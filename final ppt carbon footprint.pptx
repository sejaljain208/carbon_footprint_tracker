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entury Gothic Paneuropean" panose="020B0604020202020204" charset="0"/>
      <p:regular r:id="rId16"/>
    </p:embeddedFont>
    <p:embeddedFont>
      <p:font typeface="Century Gothic Paneuropean Bold" panose="020B0604020202020204" charset="0"/>
      <p:regular r:id="rId17"/>
    </p:embeddedFont>
    <p:embeddedFont>
      <p:font typeface="Times New Roman Bold" panose="02020803070505020304" pitchFamily="18" charset="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9.png"/><Relationship Id="rId4" Type="http://schemas.openxmlformats.org/officeDocument/2006/relationships/image" Target="../media/image2.svg"/><Relationship Id="rId9" Type="http://schemas.openxmlformats.org/officeDocument/2006/relationships/image" Target="../media/image5.jpe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5.jpeg"/><Relationship Id="rId4" Type="http://schemas.openxmlformats.org/officeDocument/2006/relationships/image" Target="../media/image2.svg"/><Relationship Id="rId9" Type="http://schemas.openxmlformats.org/officeDocument/2006/relationships/hyperlink" Target="https://github.com/Yuvi25Jain/AI-Mock-Interview-with-Streaming-Avatar"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3229011" y="1371600"/>
            <a:ext cx="13953365" cy="14892126"/>
            <a:chOff x="0" y="0"/>
            <a:chExt cx="18604486" cy="19856168"/>
          </a:xfrm>
        </p:grpSpPr>
        <p:sp>
          <p:nvSpPr>
            <p:cNvPr id="7" name="Freeform 7"/>
            <p:cNvSpPr/>
            <p:nvPr/>
          </p:nvSpPr>
          <p:spPr>
            <a:xfrm>
              <a:off x="0" y="0"/>
              <a:ext cx="18604485" cy="19856154"/>
            </a:xfrm>
            <a:custGeom>
              <a:avLst/>
              <a:gdLst/>
              <a:ahLst/>
              <a:cxnLst/>
              <a:rect l="l" t="t" r="r" b="b"/>
              <a:pathLst>
                <a:path w="18604485" h="19856154">
                  <a:moveTo>
                    <a:pt x="0" y="0"/>
                  </a:moveTo>
                  <a:lnTo>
                    <a:pt x="18604485" y="0"/>
                  </a:lnTo>
                  <a:lnTo>
                    <a:pt x="18604485" y="19856154"/>
                  </a:lnTo>
                  <a:lnTo>
                    <a:pt x="0" y="19856154"/>
                  </a:lnTo>
                  <a:close/>
                </a:path>
              </a:pathLst>
            </a:custGeom>
            <a:blipFill>
              <a:blip r:embed="rId7">
                <a:alphaModFix amt="0"/>
              </a:blip>
              <a:stretch>
                <a:fillRect t="-6874" r="-12106" b="65940"/>
              </a:stretch>
            </a:blipFill>
          </p:spPr>
        </p:sp>
        <p:sp>
          <p:nvSpPr>
            <p:cNvPr id="8" name="TextBox 8"/>
            <p:cNvSpPr txBox="1"/>
            <p:nvPr/>
          </p:nvSpPr>
          <p:spPr>
            <a:xfrm>
              <a:off x="0" y="0"/>
              <a:ext cx="18604486" cy="19856168"/>
            </a:xfrm>
            <a:prstGeom prst="rect">
              <a:avLst/>
            </a:prstGeom>
          </p:spPr>
          <p:txBody>
            <a:bodyPr lIns="0" tIns="0" rIns="0" bIns="0" rtlCol="0" anchor="b"/>
            <a:lstStyle/>
            <a:p>
              <a:pPr algn="ctr">
                <a:lnSpc>
                  <a:spcPts val="8748"/>
                </a:lnSpc>
              </a:pPr>
              <a:endParaRPr dirty="0"/>
            </a:p>
            <a:p>
              <a:pPr algn="ctr">
                <a:lnSpc>
                  <a:spcPts val="8748"/>
                </a:lnSpc>
              </a:pPr>
              <a:endParaRPr dirty="0"/>
            </a:p>
            <a:p>
              <a:pPr algn="ctr">
                <a:lnSpc>
                  <a:spcPts val="8748"/>
                </a:lnSpc>
              </a:pPr>
              <a:endParaRPr dirty="0"/>
            </a:p>
            <a:p>
              <a:pPr algn="ctr">
                <a:lnSpc>
                  <a:spcPts val="8748"/>
                </a:lnSpc>
              </a:pPr>
              <a:endParaRPr dirty="0"/>
            </a:p>
            <a:p>
              <a:pPr algn="ctr">
                <a:lnSpc>
                  <a:spcPts val="8748"/>
                </a:lnSpc>
              </a:pPr>
              <a:endParaRPr dirty="0"/>
            </a:p>
            <a:p>
              <a:pPr algn="ctr">
                <a:lnSpc>
                  <a:spcPts val="8748"/>
                </a:lnSpc>
              </a:pPr>
              <a:endParaRPr dirty="0"/>
            </a:p>
            <a:p>
              <a:pPr algn="ctr">
                <a:lnSpc>
                  <a:spcPts val="8748"/>
                </a:lnSpc>
              </a:pPr>
              <a:endParaRPr dirty="0"/>
            </a:p>
            <a:p>
              <a:pPr algn="ctr">
                <a:lnSpc>
                  <a:spcPts val="8748"/>
                </a:lnSpc>
              </a:pPr>
              <a:endParaRPr dirty="0"/>
            </a:p>
            <a:p>
              <a:pPr algn="ctr">
                <a:lnSpc>
                  <a:spcPts val="8748"/>
                </a:lnSpc>
              </a:pPr>
              <a:endParaRPr dirty="0"/>
            </a:p>
            <a:p>
              <a:pPr algn="ctr">
                <a:lnSpc>
                  <a:spcPts val="8748"/>
                </a:lnSpc>
              </a:pPr>
              <a:endParaRPr dirty="0"/>
            </a:p>
            <a:p>
              <a:pPr algn="ctr">
                <a:lnSpc>
                  <a:spcPts val="5022"/>
                </a:lnSpc>
              </a:pPr>
              <a:r>
                <a:rPr lang="en-US" sz="4185" dirty="0">
                  <a:solidFill>
                    <a:srgbClr val="262626"/>
                  </a:solidFill>
                  <a:latin typeface="Times New Roman"/>
                  <a:ea typeface="Times New Roman"/>
                  <a:cs typeface="Times New Roman"/>
                  <a:sym typeface="Times New Roman"/>
                </a:rPr>
                <a:t>Synopsis Presentation</a:t>
              </a:r>
            </a:p>
            <a:p>
              <a:pPr algn="ctr">
                <a:lnSpc>
                  <a:spcPts val="5022"/>
                </a:lnSpc>
              </a:pPr>
              <a:r>
                <a:rPr lang="en-US" sz="4185" dirty="0">
                  <a:solidFill>
                    <a:srgbClr val="262626"/>
                  </a:solidFill>
                  <a:latin typeface="Times New Roman"/>
                  <a:ea typeface="Times New Roman"/>
                  <a:cs typeface="Times New Roman"/>
                  <a:sym typeface="Times New Roman"/>
                </a:rPr>
                <a:t>on </a:t>
              </a:r>
            </a:p>
            <a:p>
              <a:pPr algn="ctr">
                <a:lnSpc>
                  <a:spcPts val="8748"/>
                </a:lnSpc>
              </a:pPr>
              <a:r>
                <a:rPr lang="en-US" sz="7290" dirty="0">
                  <a:solidFill>
                    <a:srgbClr val="262626"/>
                  </a:solidFill>
                  <a:latin typeface="Times New Roman"/>
                  <a:ea typeface="Times New Roman"/>
                  <a:cs typeface="Times New Roman"/>
                  <a:sym typeface="Times New Roman"/>
                </a:rPr>
                <a:t>AI- Mock Interview with Streaming Avatar”</a:t>
              </a:r>
            </a:p>
          </p:txBody>
        </p:sp>
      </p:grpSp>
      <p:sp>
        <p:nvSpPr>
          <p:cNvPr id="9" name="TextBox 9"/>
          <p:cNvSpPr txBox="1"/>
          <p:nvPr/>
        </p:nvSpPr>
        <p:spPr>
          <a:xfrm>
            <a:off x="3408512" y="6374587"/>
            <a:ext cx="13850788" cy="2591479"/>
          </a:xfrm>
          <a:prstGeom prst="rect">
            <a:avLst/>
          </a:prstGeom>
        </p:spPr>
        <p:txBody>
          <a:bodyPr lIns="0" tIns="0" rIns="0" bIns="0" rtlCol="0" anchor="t">
            <a:spAutoFit/>
          </a:bodyPr>
          <a:lstStyle/>
          <a:p>
            <a:pPr algn="l">
              <a:lnSpc>
                <a:spcPts val="2304"/>
              </a:lnSpc>
            </a:pPr>
            <a:r>
              <a:rPr lang="en-US" sz="2400" b="1" dirty="0">
                <a:solidFill>
                  <a:srgbClr val="595959"/>
                </a:solidFill>
                <a:latin typeface="Times New Roman Bold"/>
                <a:ea typeface="Times New Roman Bold"/>
                <a:cs typeface="Times New Roman Bold"/>
                <a:sym typeface="Times New Roman Bold"/>
              </a:rPr>
              <a:t>Guided By:</a:t>
            </a:r>
            <a:r>
              <a:rPr lang="en-US" sz="2400" dirty="0">
                <a:solidFill>
                  <a:srgbClr val="595959"/>
                </a:solidFill>
                <a:latin typeface="Times New Roman"/>
                <a:ea typeface="Times New Roman"/>
                <a:cs typeface="Times New Roman"/>
                <a:sym typeface="Times New Roman"/>
              </a:rPr>
              <a:t>				                                                </a:t>
            </a:r>
            <a:r>
              <a:rPr lang="en-US" sz="2400" b="1" dirty="0">
                <a:solidFill>
                  <a:srgbClr val="595959"/>
                </a:solidFill>
                <a:latin typeface="Times New Roman Bold"/>
                <a:ea typeface="Times New Roman Bold"/>
                <a:cs typeface="Times New Roman Bold"/>
                <a:sym typeface="Times New Roman Bold"/>
              </a:rPr>
              <a:t>Presented By:</a:t>
            </a:r>
          </a:p>
          <a:p>
            <a:pPr algn="l">
              <a:lnSpc>
                <a:spcPts val="2304"/>
              </a:lnSpc>
            </a:pPr>
            <a:r>
              <a:rPr lang="en-US" sz="2400" dirty="0">
                <a:solidFill>
                  <a:srgbClr val="595959"/>
                </a:solidFill>
                <a:latin typeface="Times New Roman"/>
                <a:ea typeface="Times New Roman"/>
                <a:cs typeface="Times New Roman"/>
                <a:sym typeface="Times New Roman"/>
              </a:rPr>
              <a:t>Prof.(Dr)Brajesh Chaturvedi </a:t>
            </a:r>
          </a:p>
          <a:p>
            <a:pPr algn="l">
              <a:lnSpc>
                <a:spcPts val="2304"/>
              </a:lnSpc>
            </a:pPr>
            <a:endParaRPr lang="en-US" sz="2400" dirty="0">
              <a:solidFill>
                <a:srgbClr val="595959"/>
              </a:solidFill>
              <a:latin typeface="Times New Roman"/>
              <a:ea typeface="Times New Roman"/>
              <a:cs typeface="Times New Roman"/>
              <a:sym typeface="Times New Roman"/>
            </a:endParaRPr>
          </a:p>
          <a:p>
            <a:pPr algn="l">
              <a:lnSpc>
                <a:spcPts val="2304"/>
              </a:lnSpc>
            </a:pPr>
            <a:endParaRPr lang="en-US" sz="2400" dirty="0">
              <a:solidFill>
                <a:srgbClr val="595959"/>
              </a:solidFill>
              <a:latin typeface="Times New Roman"/>
              <a:ea typeface="Times New Roman"/>
              <a:cs typeface="Times New Roman"/>
              <a:sym typeface="Times New Roman"/>
            </a:endParaRPr>
          </a:p>
          <a:p>
            <a:pPr algn="l">
              <a:lnSpc>
                <a:spcPts val="2304"/>
              </a:lnSpc>
            </a:pPr>
            <a:endParaRPr lang="en-US" sz="2400" dirty="0">
              <a:solidFill>
                <a:srgbClr val="595959"/>
              </a:solidFill>
              <a:latin typeface="Times New Roman"/>
              <a:ea typeface="Times New Roman"/>
              <a:cs typeface="Times New Roman"/>
              <a:sym typeface="Times New Roman"/>
            </a:endParaRPr>
          </a:p>
          <a:p>
            <a:pPr algn="l">
              <a:lnSpc>
                <a:spcPts val="2304"/>
              </a:lnSpc>
            </a:pPr>
            <a:r>
              <a:rPr lang="en-US" sz="2400" b="1" dirty="0">
                <a:solidFill>
                  <a:srgbClr val="595959"/>
                </a:solidFill>
                <a:latin typeface="Times New Roman Bold"/>
                <a:ea typeface="Times New Roman Bold"/>
                <a:cs typeface="Times New Roman Bold"/>
                <a:sym typeface="Times New Roman Bold"/>
              </a:rPr>
              <a:t>External Guide:</a:t>
            </a:r>
            <a:r>
              <a:rPr lang="en-US" sz="2400" dirty="0">
                <a:solidFill>
                  <a:srgbClr val="595959"/>
                </a:solidFill>
                <a:latin typeface="Times New Roman"/>
                <a:ea typeface="Times New Roman"/>
                <a:cs typeface="Times New Roman"/>
                <a:sym typeface="Times New Roman"/>
              </a:rPr>
              <a:t>                                                                   </a:t>
            </a:r>
          </a:p>
          <a:p>
            <a:pPr algn="l">
              <a:lnSpc>
                <a:spcPts val="2304"/>
              </a:lnSpc>
            </a:pPr>
            <a:r>
              <a:rPr lang="en-US" sz="2400" dirty="0">
                <a:solidFill>
                  <a:srgbClr val="595959"/>
                </a:solidFill>
                <a:latin typeface="Times New Roman"/>
                <a:ea typeface="Times New Roman"/>
                <a:cs typeface="Times New Roman"/>
                <a:sym typeface="Times New Roman"/>
              </a:rPr>
              <a:t>Mr. Aniket Jhawar                                                                             </a:t>
            </a:r>
          </a:p>
          <a:p>
            <a:pPr algn="l">
              <a:lnSpc>
                <a:spcPts val="2304"/>
              </a:lnSpc>
            </a:pPr>
            <a:r>
              <a:rPr lang="en-US" sz="2400" dirty="0">
                <a:solidFill>
                  <a:srgbClr val="595959"/>
                </a:solidFill>
                <a:latin typeface="Times New Roman"/>
                <a:ea typeface="Times New Roman"/>
                <a:cs typeface="Times New Roman"/>
                <a:sym typeface="Times New Roman"/>
              </a:rPr>
              <a:t>						</a:t>
            </a:r>
          </a:p>
          <a:p>
            <a:pPr algn="l">
              <a:lnSpc>
                <a:spcPts val="648"/>
              </a:lnSpc>
            </a:pPr>
            <a:r>
              <a:rPr lang="en-US" sz="675" dirty="0">
                <a:solidFill>
                  <a:srgbClr val="595959"/>
                </a:solidFill>
                <a:latin typeface="Times New Roman"/>
                <a:ea typeface="Times New Roman"/>
                <a:cs typeface="Times New Roman"/>
                <a:sym typeface="Times New Roman"/>
              </a:rPr>
              <a:t>												</a:t>
            </a:r>
          </a:p>
          <a:p>
            <a:pPr algn="l">
              <a:lnSpc>
                <a:spcPts val="648"/>
              </a:lnSpc>
            </a:pPr>
            <a:r>
              <a:rPr lang="en-US" sz="675" dirty="0">
                <a:solidFill>
                  <a:srgbClr val="595959"/>
                </a:solidFill>
                <a:latin typeface="Times New Roman"/>
                <a:ea typeface="Times New Roman"/>
                <a:cs typeface="Times New Roman"/>
                <a:sym typeface="Times New Roman"/>
              </a:rPr>
              <a:t>												</a:t>
            </a:r>
          </a:p>
          <a:p>
            <a:pPr algn="l">
              <a:lnSpc>
                <a:spcPts val="648"/>
              </a:lnSpc>
            </a:pPr>
            <a:r>
              <a:rPr lang="en-US" sz="675" dirty="0">
                <a:solidFill>
                  <a:srgbClr val="595959"/>
                </a:solidFill>
                <a:latin typeface="Times New Roman"/>
                <a:ea typeface="Times New Roman"/>
                <a:cs typeface="Times New Roman"/>
                <a:sym typeface="Times New Roman"/>
              </a:rPr>
              <a:t>		</a:t>
            </a:r>
          </a:p>
        </p:txBody>
      </p:sp>
      <p:grpSp>
        <p:nvGrpSpPr>
          <p:cNvPr id="10" name="Group 10"/>
          <p:cNvGrpSpPr/>
          <p:nvPr/>
        </p:nvGrpSpPr>
        <p:grpSpPr>
          <a:xfrm>
            <a:off x="16300590" y="-531247"/>
            <a:ext cx="1763573" cy="3135239"/>
            <a:chOff x="0" y="0"/>
            <a:chExt cx="2351430" cy="4180319"/>
          </a:xfrm>
        </p:grpSpPr>
        <p:sp>
          <p:nvSpPr>
            <p:cNvPr id="11" name="Freeform 11"/>
            <p:cNvSpPr/>
            <p:nvPr/>
          </p:nvSpPr>
          <p:spPr>
            <a:xfrm>
              <a:off x="0" y="0"/>
              <a:ext cx="2351405" cy="4180332"/>
            </a:xfrm>
            <a:custGeom>
              <a:avLst/>
              <a:gdLst/>
              <a:ahLst/>
              <a:cxnLst/>
              <a:rect l="l" t="t" r="r" b="b"/>
              <a:pathLst>
                <a:path w="2351405" h="4180332">
                  <a:moveTo>
                    <a:pt x="0" y="0"/>
                  </a:moveTo>
                  <a:lnTo>
                    <a:pt x="2351405" y="0"/>
                  </a:lnTo>
                  <a:lnTo>
                    <a:pt x="2351405" y="4180332"/>
                  </a:lnTo>
                  <a:lnTo>
                    <a:pt x="0" y="4180332"/>
                  </a:lnTo>
                  <a:lnTo>
                    <a:pt x="0" y="0"/>
                  </a:lnTo>
                  <a:close/>
                </a:path>
              </a:pathLst>
            </a:custGeom>
            <a:blipFill>
              <a:blip r:embed="rId8"/>
              <a:stretch>
                <a:fillRect r="-1" b="-13"/>
              </a:stretch>
            </a:blipFill>
          </p:spPr>
        </p:sp>
      </p:grpSp>
      <p:grpSp>
        <p:nvGrpSpPr>
          <p:cNvPr id="12" name="Group 12"/>
          <p:cNvGrpSpPr/>
          <p:nvPr/>
        </p:nvGrpSpPr>
        <p:grpSpPr>
          <a:xfrm>
            <a:off x="332965" y="0"/>
            <a:ext cx="2430113" cy="2072745"/>
            <a:chOff x="0" y="0"/>
            <a:chExt cx="3240151" cy="2763660"/>
          </a:xfrm>
        </p:grpSpPr>
        <p:sp>
          <p:nvSpPr>
            <p:cNvPr id="13" name="Freeform 13"/>
            <p:cNvSpPr/>
            <p:nvPr/>
          </p:nvSpPr>
          <p:spPr>
            <a:xfrm>
              <a:off x="0" y="0"/>
              <a:ext cx="3240151" cy="2763647"/>
            </a:xfrm>
            <a:custGeom>
              <a:avLst/>
              <a:gdLst/>
              <a:ahLst/>
              <a:cxnLst/>
              <a:rect l="l" t="t" r="r" b="b"/>
              <a:pathLst>
                <a:path w="3240151" h="2763647">
                  <a:moveTo>
                    <a:pt x="0" y="0"/>
                  </a:moveTo>
                  <a:lnTo>
                    <a:pt x="3240151" y="0"/>
                  </a:lnTo>
                  <a:lnTo>
                    <a:pt x="3240151" y="2763647"/>
                  </a:lnTo>
                  <a:lnTo>
                    <a:pt x="0" y="2763647"/>
                  </a:lnTo>
                  <a:lnTo>
                    <a:pt x="0" y="0"/>
                  </a:lnTo>
                  <a:close/>
                </a:path>
              </a:pathLst>
            </a:custGeom>
            <a:blipFill>
              <a:blip r:embed="rId9"/>
              <a:stretch>
                <a:fillRect/>
              </a:stretch>
            </a:blipFill>
          </p:spPr>
        </p:sp>
      </p:grpSp>
      <p:sp>
        <p:nvSpPr>
          <p:cNvPr id="14" name="TextBox 14"/>
          <p:cNvSpPr txBox="1"/>
          <p:nvPr/>
        </p:nvSpPr>
        <p:spPr>
          <a:xfrm>
            <a:off x="3366164" y="1680078"/>
            <a:ext cx="13845540" cy="3500958"/>
          </a:xfrm>
          <a:prstGeom prst="rect">
            <a:avLst/>
          </a:prstGeom>
        </p:spPr>
        <p:txBody>
          <a:bodyPr lIns="0" tIns="0" rIns="0" bIns="0" rtlCol="0" anchor="t">
            <a:spAutoFit/>
          </a:bodyPr>
          <a:lstStyle/>
          <a:p>
            <a:pPr algn="ctr">
              <a:lnSpc>
                <a:spcPts val="7200"/>
              </a:lnSpc>
              <a:spcBef>
                <a:spcPct val="0"/>
              </a:spcBef>
            </a:pPr>
            <a:r>
              <a:rPr lang="en-US" sz="6000" dirty="0">
                <a:solidFill>
                  <a:srgbClr val="595959"/>
                </a:solidFill>
                <a:latin typeface="Times New Roman"/>
                <a:ea typeface="Times New Roman"/>
                <a:cs typeface="Times New Roman"/>
                <a:sym typeface="Times New Roman"/>
              </a:rPr>
              <a:t>Synopsis Presentation </a:t>
            </a:r>
          </a:p>
          <a:p>
            <a:pPr algn="ctr">
              <a:lnSpc>
                <a:spcPts val="5721"/>
              </a:lnSpc>
              <a:spcBef>
                <a:spcPct val="0"/>
              </a:spcBef>
            </a:pPr>
            <a:r>
              <a:rPr lang="en-US" sz="4767" dirty="0">
                <a:solidFill>
                  <a:srgbClr val="595959"/>
                </a:solidFill>
                <a:latin typeface="Times New Roman"/>
                <a:ea typeface="Times New Roman"/>
                <a:cs typeface="Times New Roman"/>
                <a:sym typeface="Times New Roman"/>
              </a:rPr>
              <a:t>on </a:t>
            </a:r>
          </a:p>
          <a:p>
            <a:pPr algn="ctr">
              <a:lnSpc>
                <a:spcPts val="7200"/>
              </a:lnSpc>
              <a:spcBef>
                <a:spcPct val="0"/>
              </a:spcBef>
            </a:pPr>
            <a:r>
              <a:rPr lang="en-US" sz="6000" dirty="0">
                <a:solidFill>
                  <a:srgbClr val="595959"/>
                </a:solidFill>
                <a:latin typeface="Times New Roman"/>
                <a:ea typeface="Times New Roman"/>
                <a:cs typeface="Times New Roman"/>
                <a:sym typeface="Times New Roman"/>
              </a:rPr>
              <a:t>“</a:t>
            </a:r>
            <a:r>
              <a:rPr lang="en-US" sz="6000" dirty="0" err="1">
                <a:solidFill>
                  <a:srgbClr val="595959"/>
                </a:solidFill>
                <a:latin typeface="Times New Roman"/>
                <a:ea typeface="Times New Roman"/>
                <a:cs typeface="Times New Roman"/>
                <a:sym typeface="Times New Roman"/>
              </a:rPr>
              <a:t>CarbonLens</a:t>
            </a:r>
            <a:r>
              <a:rPr lang="en-US" sz="6000" dirty="0">
                <a:solidFill>
                  <a:srgbClr val="595959"/>
                </a:solidFill>
                <a:latin typeface="Times New Roman"/>
                <a:ea typeface="Times New Roman"/>
                <a:cs typeface="Times New Roman"/>
                <a:sym typeface="Times New Roman"/>
              </a:rPr>
              <a:t> – AI-Powered Carbon Footprint Tracker”</a:t>
            </a:r>
          </a:p>
        </p:txBody>
      </p:sp>
      <p:sp>
        <p:nvSpPr>
          <p:cNvPr id="15" name="TextBox 15"/>
          <p:cNvSpPr txBox="1"/>
          <p:nvPr/>
        </p:nvSpPr>
        <p:spPr>
          <a:xfrm>
            <a:off x="11595001" y="6336487"/>
            <a:ext cx="4645581" cy="1923604"/>
          </a:xfrm>
          <a:prstGeom prst="rect">
            <a:avLst/>
          </a:prstGeom>
        </p:spPr>
        <p:txBody>
          <a:bodyPr lIns="0" tIns="0" rIns="0" bIns="0" rtlCol="0" anchor="t">
            <a:spAutoFit/>
          </a:bodyPr>
          <a:lstStyle/>
          <a:p>
            <a:pPr algn="just">
              <a:lnSpc>
                <a:spcPts val="3001"/>
              </a:lnSpc>
              <a:spcBef>
                <a:spcPct val="0"/>
              </a:spcBef>
            </a:pPr>
            <a:endParaRPr dirty="0"/>
          </a:p>
          <a:p>
            <a:pPr algn="just">
              <a:lnSpc>
                <a:spcPts val="3001"/>
              </a:lnSpc>
              <a:spcBef>
                <a:spcPct val="0"/>
              </a:spcBef>
            </a:pPr>
            <a:r>
              <a:rPr lang="en-US" sz="2501" dirty="0">
                <a:solidFill>
                  <a:srgbClr val="595959"/>
                </a:solidFill>
                <a:latin typeface="Times New Roman"/>
                <a:ea typeface="Times New Roman"/>
                <a:cs typeface="Times New Roman"/>
                <a:sym typeface="Times New Roman"/>
              </a:rPr>
              <a:t>Pranav Singh (0827IT231100)</a:t>
            </a:r>
          </a:p>
          <a:p>
            <a:pPr algn="just">
              <a:lnSpc>
                <a:spcPts val="3001"/>
              </a:lnSpc>
              <a:spcBef>
                <a:spcPct val="0"/>
              </a:spcBef>
            </a:pPr>
            <a:r>
              <a:rPr lang="en-US" sz="2501" dirty="0">
                <a:solidFill>
                  <a:srgbClr val="595959"/>
                </a:solidFill>
                <a:latin typeface="Times New Roman"/>
                <a:ea typeface="Times New Roman"/>
                <a:cs typeface="Times New Roman"/>
                <a:sym typeface="Times New Roman"/>
              </a:rPr>
              <a:t>Sachin Kushwaha (0827IT231113)</a:t>
            </a:r>
          </a:p>
          <a:p>
            <a:pPr algn="just">
              <a:lnSpc>
                <a:spcPts val="3001"/>
              </a:lnSpc>
              <a:spcBef>
                <a:spcPct val="0"/>
              </a:spcBef>
            </a:pPr>
            <a:r>
              <a:rPr lang="en-US" sz="2501" dirty="0">
                <a:solidFill>
                  <a:srgbClr val="595959"/>
                </a:solidFill>
                <a:latin typeface="Times New Roman"/>
                <a:ea typeface="Times New Roman"/>
                <a:cs typeface="Times New Roman"/>
                <a:sym typeface="Times New Roman"/>
              </a:rPr>
              <a:t>Sanskar Rathore (0827IT231118)</a:t>
            </a:r>
          </a:p>
          <a:p>
            <a:pPr algn="just">
              <a:lnSpc>
                <a:spcPts val="3001"/>
              </a:lnSpc>
              <a:spcBef>
                <a:spcPct val="0"/>
              </a:spcBef>
            </a:pPr>
            <a:r>
              <a:rPr lang="en-US" sz="2501" dirty="0" err="1">
                <a:solidFill>
                  <a:srgbClr val="595959"/>
                </a:solidFill>
                <a:latin typeface="Times New Roman"/>
                <a:ea typeface="Times New Roman"/>
                <a:cs typeface="Times New Roman"/>
                <a:sym typeface="Times New Roman"/>
              </a:rPr>
              <a:t>Sejal</a:t>
            </a:r>
            <a:r>
              <a:rPr lang="en-US" sz="2501" dirty="0">
                <a:solidFill>
                  <a:srgbClr val="595959"/>
                </a:solidFill>
                <a:latin typeface="Times New Roman"/>
                <a:ea typeface="Times New Roman"/>
                <a:cs typeface="Times New Roman"/>
                <a:sym typeface="Times New Roman"/>
              </a:rPr>
              <a:t> Jain </a:t>
            </a:r>
            <a:r>
              <a:rPr lang="en-US" sz="2501">
                <a:solidFill>
                  <a:srgbClr val="595959"/>
                </a:solidFill>
                <a:latin typeface="Times New Roman"/>
                <a:ea typeface="Times New Roman"/>
                <a:cs typeface="Times New Roman"/>
                <a:sym typeface="Times New Roman"/>
              </a:rPr>
              <a:t>(0827IT231123</a:t>
            </a:r>
            <a:r>
              <a:rPr lang="en-US" sz="2501" dirty="0">
                <a:solidFill>
                  <a:srgbClr val="595959"/>
                </a:solidFill>
                <a:latin typeface="Times New Roman"/>
                <a:ea typeface="Times New Roman"/>
                <a:cs typeface="Times New Roman"/>
                <a:sym typeface="Times New Roman"/>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sp>
        <p:nvSpPr>
          <p:cNvPr id="12" name="TextBox 12"/>
          <p:cNvSpPr txBox="1"/>
          <p:nvPr/>
        </p:nvSpPr>
        <p:spPr>
          <a:xfrm>
            <a:off x="3975240" y="721223"/>
            <a:ext cx="13184676" cy="1868033"/>
          </a:xfrm>
          <a:prstGeom prst="rect">
            <a:avLst/>
          </a:prstGeom>
        </p:spPr>
        <p:txBody>
          <a:bodyPr lIns="0" tIns="0" rIns="0" bIns="0" rtlCol="0" anchor="t">
            <a:spAutoFit/>
          </a:bodyPr>
          <a:lstStyle/>
          <a:p>
            <a:pPr algn="l">
              <a:lnSpc>
                <a:spcPts val="7200"/>
              </a:lnSpc>
            </a:pPr>
            <a:r>
              <a:rPr lang="en-US" sz="6000">
                <a:solidFill>
                  <a:srgbClr val="262626"/>
                </a:solidFill>
                <a:latin typeface="Times New Roman"/>
                <a:ea typeface="Times New Roman"/>
                <a:cs typeface="Times New Roman"/>
                <a:sym typeface="Times New Roman"/>
              </a:rPr>
              <a:t>Contents</a:t>
            </a:r>
          </a:p>
        </p:txBody>
      </p:sp>
      <p:sp>
        <p:nvSpPr>
          <p:cNvPr id="13" name="TextBox 13"/>
          <p:cNvSpPr txBox="1"/>
          <p:nvPr/>
        </p:nvSpPr>
        <p:spPr>
          <a:xfrm>
            <a:off x="3575847" y="2121975"/>
            <a:ext cx="13584069" cy="6347892"/>
          </a:xfrm>
          <a:prstGeom prst="rect">
            <a:avLst/>
          </a:prstGeom>
        </p:spPr>
        <p:txBody>
          <a:bodyPr lIns="0" tIns="0" rIns="0" bIns="0" rtlCol="0" anchor="t">
            <a:spAutoFit/>
          </a:bodyPr>
          <a:lstStyle/>
          <a:p>
            <a:pPr marL="310320" lvl="1" algn="l">
              <a:lnSpc>
                <a:spcPts val="3292"/>
              </a:lnSpc>
            </a:pPr>
            <a:endParaRPr lang="en-US" sz="3429" dirty="0">
              <a:solidFill>
                <a:srgbClr val="3F3F3F"/>
              </a:solidFill>
              <a:latin typeface="Times New Roman"/>
              <a:ea typeface="Times New Roman"/>
              <a:cs typeface="Times New Roman"/>
              <a:sym typeface="Times New Roman"/>
            </a:endParaRPr>
          </a:p>
          <a:p>
            <a:pPr marL="620640" lvl="1" indent="-310320" algn="l">
              <a:lnSpc>
                <a:spcPts val="3292"/>
              </a:lnSpc>
              <a:buAutoNum type="arabicPeriod"/>
            </a:pPr>
            <a:r>
              <a:rPr lang="en-US" sz="3429" dirty="0">
                <a:solidFill>
                  <a:srgbClr val="3F3F3F"/>
                </a:solidFill>
                <a:latin typeface="Times New Roman"/>
                <a:ea typeface="Times New Roman"/>
                <a:cs typeface="Times New Roman"/>
                <a:sym typeface="Times New Roman"/>
              </a:rPr>
              <a:t>Introduction</a:t>
            </a:r>
          </a:p>
          <a:p>
            <a:pPr marL="310320" lvl="1" algn="l">
              <a:lnSpc>
                <a:spcPts val="3292"/>
              </a:lnSpc>
            </a:pPr>
            <a:r>
              <a:rPr lang="en-US" sz="3429" dirty="0">
                <a:solidFill>
                  <a:srgbClr val="3F3F3F"/>
                </a:solidFill>
                <a:latin typeface="Times New Roman"/>
                <a:ea typeface="Times New Roman"/>
                <a:cs typeface="Times New Roman"/>
                <a:sym typeface="Times New Roman"/>
              </a:rPr>
              <a:t>  1.1 Overview</a:t>
            </a:r>
          </a:p>
          <a:p>
            <a:pPr marL="310320" lvl="1" algn="l">
              <a:lnSpc>
                <a:spcPts val="3292"/>
              </a:lnSpc>
            </a:pPr>
            <a:r>
              <a:rPr lang="en-US" sz="3429" dirty="0">
                <a:solidFill>
                  <a:srgbClr val="3F3F3F"/>
                </a:solidFill>
                <a:latin typeface="Times New Roman"/>
                <a:ea typeface="Times New Roman"/>
                <a:cs typeface="Times New Roman"/>
                <a:sym typeface="Times New Roman"/>
              </a:rPr>
              <a:t>     1.2 Purpose</a:t>
            </a:r>
          </a:p>
          <a:p>
            <a:pPr marL="620640" lvl="1" indent="-310320" algn="l">
              <a:lnSpc>
                <a:spcPts val="3292"/>
              </a:lnSpc>
              <a:buAutoNum type="arabicPeriod"/>
            </a:pPr>
            <a:r>
              <a:rPr lang="en-US" sz="3429" dirty="0">
                <a:solidFill>
                  <a:srgbClr val="3F3F3F"/>
                </a:solidFill>
                <a:latin typeface="Times New Roman"/>
                <a:ea typeface="Times New Roman"/>
                <a:cs typeface="Times New Roman"/>
                <a:sym typeface="Times New Roman"/>
              </a:rPr>
              <a:t>Literature Review</a:t>
            </a:r>
          </a:p>
          <a:p>
            <a:pPr marL="620640" lvl="1" indent="-310320" algn="l">
              <a:lnSpc>
                <a:spcPts val="3292"/>
              </a:lnSpc>
              <a:buAutoNum type="arabicPeriod"/>
            </a:pPr>
            <a:r>
              <a:rPr lang="en-US" sz="3429" dirty="0">
                <a:solidFill>
                  <a:srgbClr val="3F3F3F"/>
                </a:solidFill>
                <a:latin typeface="Times New Roman"/>
                <a:ea typeface="Times New Roman"/>
                <a:cs typeface="Times New Roman"/>
                <a:sym typeface="Times New Roman"/>
              </a:rPr>
              <a:t>Problem Statement</a:t>
            </a:r>
          </a:p>
          <a:p>
            <a:pPr marL="620640" lvl="1" indent="-310320" algn="l">
              <a:lnSpc>
                <a:spcPts val="3292"/>
              </a:lnSpc>
              <a:buAutoNum type="arabicPeriod"/>
            </a:pPr>
            <a:r>
              <a:rPr lang="en-US" sz="3429" dirty="0">
                <a:solidFill>
                  <a:srgbClr val="3F3F3F"/>
                </a:solidFill>
                <a:latin typeface="Times New Roman"/>
                <a:ea typeface="Times New Roman"/>
                <a:cs typeface="Times New Roman"/>
                <a:sym typeface="Times New Roman"/>
              </a:rPr>
              <a:t>Proposed Solution</a:t>
            </a:r>
          </a:p>
          <a:p>
            <a:pPr marL="620640" lvl="1" indent="-310320" algn="l">
              <a:lnSpc>
                <a:spcPts val="3292"/>
              </a:lnSpc>
              <a:buAutoNum type="arabicPeriod"/>
            </a:pPr>
            <a:r>
              <a:rPr lang="en-US" sz="3429" dirty="0">
                <a:solidFill>
                  <a:srgbClr val="3F3F3F"/>
                </a:solidFill>
                <a:latin typeface="Times New Roman"/>
                <a:ea typeface="Times New Roman"/>
                <a:cs typeface="Times New Roman"/>
                <a:sym typeface="Times New Roman"/>
              </a:rPr>
              <a:t>Objectives</a:t>
            </a:r>
          </a:p>
          <a:p>
            <a:pPr marL="620640" lvl="1" indent="-310320" algn="l">
              <a:lnSpc>
                <a:spcPts val="3292"/>
              </a:lnSpc>
              <a:buAutoNum type="arabicPeriod"/>
            </a:pPr>
            <a:r>
              <a:rPr lang="en-US" sz="3429" dirty="0">
                <a:solidFill>
                  <a:srgbClr val="3F3F3F"/>
                </a:solidFill>
                <a:latin typeface="Times New Roman"/>
                <a:ea typeface="Times New Roman"/>
                <a:cs typeface="Times New Roman"/>
                <a:sym typeface="Times New Roman"/>
              </a:rPr>
              <a:t>Theoretical Analysis</a:t>
            </a:r>
          </a:p>
          <a:p>
            <a:pPr marL="310320" lvl="1" algn="l">
              <a:lnSpc>
                <a:spcPts val="3292"/>
              </a:lnSpc>
            </a:pPr>
            <a:r>
              <a:rPr lang="en-US" sz="3429" dirty="0">
                <a:solidFill>
                  <a:srgbClr val="3F3F3F"/>
                </a:solidFill>
                <a:latin typeface="Times New Roman"/>
                <a:ea typeface="Times New Roman"/>
                <a:cs typeface="Times New Roman"/>
                <a:sym typeface="Times New Roman"/>
              </a:rPr>
              <a:t>  5.1Block Diagram</a:t>
            </a:r>
          </a:p>
          <a:p>
            <a:pPr marL="310320" lvl="1" algn="l">
              <a:lnSpc>
                <a:spcPts val="3292"/>
              </a:lnSpc>
            </a:pPr>
            <a:r>
              <a:rPr lang="en-US" sz="3429" dirty="0">
                <a:solidFill>
                  <a:srgbClr val="3F3F3F"/>
                </a:solidFill>
                <a:latin typeface="Times New Roman"/>
                <a:ea typeface="Times New Roman"/>
                <a:cs typeface="Times New Roman"/>
                <a:sym typeface="Times New Roman"/>
              </a:rPr>
              <a:t>  5.2Hardware Requirements</a:t>
            </a:r>
          </a:p>
          <a:p>
            <a:pPr marL="310320" lvl="1" algn="l">
              <a:lnSpc>
                <a:spcPts val="3292"/>
              </a:lnSpc>
            </a:pPr>
            <a:r>
              <a:rPr lang="en-US" sz="3429" dirty="0">
                <a:solidFill>
                  <a:srgbClr val="3F3F3F"/>
                </a:solidFill>
                <a:latin typeface="Times New Roman"/>
                <a:ea typeface="Times New Roman"/>
                <a:cs typeface="Times New Roman"/>
                <a:sym typeface="Times New Roman"/>
              </a:rPr>
              <a:t>  5.3Software Requirements</a:t>
            </a:r>
          </a:p>
          <a:p>
            <a:pPr marL="620640" lvl="1" indent="-310320" algn="l">
              <a:lnSpc>
                <a:spcPts val="3292"/>
              </a:lnSpc>
              <a:buAutoNum type="arabicPeriod"/>
            </a:pPr>
            <a:r>
              <a:rPr lang="en-US" sz="3429" dirty="0">
                <a:solidFill>
                  <a:srgbClr val="3F3F3F"/>
                </a:solidFill>
                <a:latin typeface="Times New Roman"/>
                <a:ea typeface="Times New Roman"/>
                <a:cs typeface="Times New Roman"/>
                <a:sym typeface="Times New Roman"/>
              </a:rPr>
              <a:t>Applications</a:t>
            </a:r>
          </a:p>
          <a:p>
            <a:pPr marL="620640" lvl="1" indent="-310320" algn="l">
              <a:lnSpc>
                <a:spcPts val="3292"/>
              </a:lnSpc>
              <a:buAutoNum type="arabicPeriod"/>
            </a:pPr>
            <a:r>
              <a:rPr lang="en-US" sz="3429" dirty="0">
                <a:solidFill>
                  <a:srgbClr val="3F3F3F"/>
                </a:solidFill>
                <a:latin typeface="Times New Roman"/>
                <a:ea typeface="Times New Roman"/>
                <a:cs typeface="Times New Roman"/>
                <a:sym typeface="Times New Roman"/>
              </a:rPr>
              <a:t>GitHub Link</a:t>
            </a:r>
          </a:p>
          <a:p>
            <a:pPr marL="620640" lvl="1" indent="-310320" algn="l">
              <a:lnSpc>
                <a:spcPts val="3292"/>
              </a:lnSpc>
              <a:buAutoNum type="arabicPeriod"/>
            </a:pPr>
            <a:r>
              <a:rPr lang="en-US" sz="3429" dirty="0">
                <a:solidFill>
                  <a:srgbClr val="3F3F3F"/>
                </a:solidFill>
                <a:latin typeface="Times New Roman"/>
                <a:ea typeface="Times New Roman"/>
                <a:cs typeface="Times New Roman"/>
                <a:sym typeface="Times New Roman"/>
              </a:rPr>
              <a:t>References</a:t>
            </a:r>
          </a:p>
        </p:txBody>
      </p:sp>
      <p:grpSp>
        <p:nvGrpSpPr>
          <p:cNvPr id="14" name="Group 14"/>
          <p:cNvGrpSpPr/>
          <p:nvPr/>
        </p:nvGrpSpPr>
        <p:grpSpPr>
          <a:xfrm>
            <a:off x="16833047" y="9507236"/>
            <a:ext cx="1169651" cy="547688"/>
            <a:chOff x="0" y="0"/>
            <a:chExt cx="1559535" cy="730250"/>
          </a:xfrm>
        </p:grpSpPr>
        <p:sp>
          <p:nvSpPr>
            <p:cNvPr id="15" name="Freeform 15"/>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6" name="TextBox 16"/>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2</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grpSp>
        <p:nvGrpSpPr>
          <p:cNvPr id="12" name="Group 12"/>
          <p:cNvGrpSpPr/>
          <p:nvPr/>
        </p:nvGrpSpPr>
        <p:grpSpPr>
          <a:xfrm>
            <a:off x="16833047" y="9507236"/>
            <a:ext cx="1169651" cy="547688"/>
            <a:chOff x="0" y="0"/>
            <a:chExt cx="1559535" cy="730250"/>
          </a:xfrm>
        </p:grpSpPr>
        <p:sp>
          <p:nvSpPr>
            <p:cNvPr id="13" name="Freeform 13"/>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4" name="TextBox 14"/>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3</a:t>
              </a:r>
            </a:p>
          </p:txBody>
        </p:sp>
      </p:grpSp>
      <p:grpSp>
        <p:nvGrpSpPr>
          <p:cNvPr id="15" name="Group 15"/>
          <p:cNvGrpSpPr/>
          <p:nvPr/>
        </p:nvGrpSpPr>
        <p:grpSpPr>
          <a:xfrm>
            <a:off x="2419550" y="2120770"/>
            <a:ext cx="6724450" cy="7934154"/>
            <a:chOff x="0" y="0"/>
            <a:chExt cx="1771049" cy="2089654"/>
          </a:xfrm>
        </p:grpSpPr>
        <p:sp>
          <p:nvSpPr>
            <p:cNvPr id="16" name="Freeform 16"/>
            <p:cNvSpPr/>
            <p:nvPr/>
          </p:nvSpPr>
          <p:spPr>
            <a:xfrm>
              <a:off x="0" y="0"/>
              <a:ext cx="1771048" cy="2089654"/>
            </a:xfrm>
            <a:custGeom>
              <a:avLst/>
              <a:gdLst/>
              <a:ahLst/>
              <a:cxnLst/>
              <a:rect l="l" t="t" r="r" b="b"/>
              <a:pathLst>
                <a:path w="1771048" h="2089654">
                  <a:moveTo>
                    <a:pt x="58717" y="0"/>
                  </a:moveTo>
                  <a:lnTo>
                    <a:pt x="1712332" y="0"/>
                  </a:lnTo>
                  <a:cubicBezTo>
                    <a:pt x="1727904" y="0"/>
                    <a:pt x="1742839" y="6186"/>
                    <a:pt x="1753851" y="17198"/>
                  </a:cubicBezTo>
                  <a:cubicBezTo>
                    <a:pt x="1764862" y="28209"/>
                    <a:pt x="1771048" y="43144"/>
                    <a:pt x="1771048" y="58717"/>
                  </a:cubicBezTo>
                  <a:lnTo>
                    <a:pt x="1771048" y="2030937"/>
                  </a:lnTo>
                  <a:cubicBezTo>
                    <a:pt x="1771048" y="2046510"/>
                    <a:pt x="1764862" y="2061444"/>
                    <a:pt x="1753851" y="2072456"/>
                  </a:cubicBezTo>
                  <a:cubicBezTo>
                    <a:pt x="1742839" y="2083467"/>
                    <a:pt x="1727904" y="2089654"/>
                    <a:pt x="1712332" y="2089654"/>
                  </a:cubicBezTo>
                  <a:lnTo>
                    <a:pt x="58717" y="2089654"/>
                  </a:lnTo>
                  <a:cubicBezTo>
                    <a:pt x="43144" y="2089654"/>
                    <a:pt x="28209" y="2083467"/>
                    <a:pt x="17198" y="2072456"/>
                  </a:cubicBezTo>
                  <a:cubicBezTo>
                    <a:pt x="6186" y="2061444"/>
                    <a:pt x="0" y="2046510"/>
                    <a:pt x="0" y="2030937"/>
                  </a:cubicBezTo>
                  <a:lnTo>
                    <a:pt x="0" y="58717"/>
                  </a:lnTo>
                  <a:cubicBezTo>
                    <a:pt x="0" y="43144"/>
                    <a:pt x="6186" y="28209"/>
                    <a:pt x="17198" y="17198"/>
                  </a:cubicBezTo>
                  <a:cubicBezTo>
                    <a:pt x="28209" y="6186"/>
                    <a:pt x="43144" y="0"/>
                    <a:pt x="58717" y="0"/>
                  </a:cubicBezTo>
                  <a:close/>
                </a:path>
              </a:pathLst>
            </a:custGeom>
            <a:solidFill>
              <a:srgbClr val="766F54">
                <a:alpha val="27843"/>
              </a:srgbClr>
            </a:solidFill>
          </p:spPr>
        </p:sp>
        <p:sp>
          <p:nvSpPr>
            <p:cNvPr id="17" name="TextBox 17"/>
            <p:cNvSpPr txBox="1"/>
            <p:nvPr/>
          </p:nvSpPr>
          <p:spPr>
            <a:xfrm>
              <a:off x="0" y="-38100"/>
              <a:ext cx="1771049" cy="2127754"/>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3575847" y="894159"/>
            <a:ext cx="13184676" cy="1868033"/>
          </a:xfrm>
          <a:prstGeom prst="rect">
            <a:avLst/>
          </a:prstGeom>
        </p:spPr>
        <p:txBody>
          <a:bodyPr lIns="0" tIns="0" rIns="0" bIns="0" rtlCol="0" anchor="t">
            <a:spAutoFit/>
          </a:bodyPr>
          <a:lstStyle/>
          <a:p>
            <a:pPr algn="l">
              <a:lnSpc>
                <a:spcPts val="7200"/>
              </a:lnSpc>
            </a:pPr>
            <a:r>
              <a:rPr lang="en-US" sz="6000">
                <a:solidFill>
                  <a:srgbClr val="262626"/>
                </a:solidFill>
                <a:latin typeface="Times New Roman"/>
                <a:ea typeface="Times New Roman"/>
                <a:cs typeface="Times New Roman"/>
                <a:sym typeface="Times New Roman"/>
              </a:rPr>
              <a:t>1. Introduction</a:t>
            </a:r>
          </a:p>
        </p:txBody>
      </p:sp>
      <p:sp>
        <p:nvSpPr>
          <p:cNvPr id="19" name="TextBox 19"/>
          <p:cNvSpPr txBox="1"/>
          <p:nvPr/>
        </p:nvSpPr>
        <p:spPr>
          <a:xfrm>
            <a:off x="2419550" y="2111245"/>
            <a:ext cx="6724450" cy="7707238"/>
          </a:xfrm>
          <a:prstGeom prst="rect">
            <a:avLst/>
          </a:prstGeom>
        </p:spPr>
        <p:txBody>
          <a:bodyPr lIns="0" tIns="0" rIns="0" bIns="0" rtlCol="0" anchor="t">
            <a:spAutoFit/>
          </a:bodyPr>
          <a:lstStyle/>
          <a:p>
            <a:pPr algn="ctr">
              <a:lnSpc>
                <a:spcPts val="2883"/>
              </a:lnSpc>
            </a:pPr>
            <a:r>
              <a:rPr lang="en-US" sz="2402" dirty="0">
                <a:solidFill>
                  <a:srgbClr val="262626"/>
                </a:solidFill>
                <a:latin typeface="Times New Roman"/>
                <a:ea typeface="Times New Roman"/>
                <a:cs typeface="Times New Roman"/>
                <a:sym typeface="Times New Roman"/>
              </a:rPr>
              <a:t>1.1Overview</a:t>
            </a:r>
          </a:p>
          <a:p>
            <a:pPr algn="ctr">
              <a:lnSpc>
                <a:spcPts val="2645"/>
              </a:lnSpc>
            </a:pPr>
            <a:endParaRPr lang="en-US" sz="2402" dirty="0">
              <a:solidFill>
                <a:srgbClr val="262626"/>
              </a:solidFill>
              <a:latin typeface="Times New Roman"/>
              <a:ea typeface="Times New Roman"/>
              <a:cs typeface="Times New Roman"/>
              <a:sym typeface="Times New Roman"/>
            </a:endParaRPr>
          </a:p>
          <a:p>
            <a:pPr algn="ctr">
              <a:lnSpc>
                <a:spcPts val="2645"/>
              </a:lnSpc>
              <a:spcBef>
                <a:spcPct val="0"/>
              </a:spcBef>
            </a:pPr>
            <a:r>
              <a:rPr lang="en-US" sz="2204" dirty="0" err="1">
                <a:solidFill>
                  <a:srgbClr val="262626"/>
                </a:solidFill>
                <a:latin typeface="Times New Roman"/>
                <a:ea typeface="Times New Roman"/>
                <a:cs typeface="Times New Roman"/>
                <a:sym typeface="Times New Roman"/>
              </a:rPr>
              <a:t>CarbonLens</a:t>
            </a:r>
            <a:r>
              <a:rPr lang="en-US" sz="2204" dirty="0">
                <a:solidFill>
                  <a:srgbClr val="262626"/>
                </a:solidFill>
                <a:latin typeface="Times New Roman"/>
                <a:ea typeface="Times New Roman"/>
                <a:cs typeface="Times New Roman"/>
                <a:sym typeface="Times New Roman"/>
              </a:rPr>
              <a:t> is an AI-powered web application designed to help users track and understand their personal carbon footprint. It enables users to record daily activities related to transportation, energy consumption, diet, and other lifestyle choices, and estimates the carbon emissions generated from these activities.</a:t>
            </a:r>
          </a:p>
          <a:p>
            <a:pPr algn="ctr">
              <a:lnSpc>
                <a:spcPts val="2645"/>
              </a:lnSpc>
              <a:spcBef>
                <a:spcPct val="0"/>
              </a:spcBef>
            </a:pPr>
            <a:r>
              <a:rPr lang="en-US" sz="2204" dirty="0">
                <a:solidFill>
                  <a:srgbClr val="262626"/>
                </a:solidFill>
                <a:latin typeface="Times New Roman"/>
                <a:ea typeface="Times New Roman"/>
                <a:cs typeface="Times New Roman"/>
                <a:sym typeface="Times New Roman"/>
              </a:rPr>
              <a:t>The system uses artificial intelligence to analyze user data and provide personalized sustainability tips and recommendations. Interactive dashboards and reports help users visualize emission trends, identify major sources of emissions, and monitor their progress over time. By combining AI with an easy-to-use interface, </a:t>
            </a:r>
            <a:r>
              <a:rPr lang="en-US" sz="2204" dirty="0" err="1">
                <a:solidFill>
                  <a:srgbClr val="262626"/>
                </a:solidFill>
                <a:latin typeface="Times New Roman"/>
                <a:ea typeface="Times New Roman"/>
                <a:cs typeface="Times New Roman"/>
                <a:sym typeface="Times New Roman"/>
              </a:rPr>
              <a:t>CarbonLens</a:t>
            </a:r>
            <a:r>
              <a:rPr lang="en-US" sz="2204" dirty="0">
                <a:solidFill>
                  <a:srgbClr val="262626"/>
                </a:solidFill>
                <a:latin typeface="Times New Roman"/>
                <a:ea typeface="Times New Roman"/>
                <a:cs typeface="Times New Roman"/>
                <a:sym typeface="Times New Roman"/>
              </a:rPr>
              <a:t> encourages individuals to adopt environmentally responsible habits and contribute towards a more sustainable future.</a:t>
            </a:r>
          </a:p>
          <a:p>
            <a:pPr algn="ctr">
              <a:lnSpc>
                <a:spcPts val="2645"/>
              </a:lnSpc>
              <a:spcBef>
                <a:spcPct val="0"/>
              </a:spcBef>
            </a:pPr>
            <a:r>
              <a:rPr lang="en-US" sz="2204" dirty="0" err="1">
                <a:solidFill>
                  <a:srgbClr val="262626"/>
                </a:solidFill>
                <a:latin typeface="Times New Roman"/>
                <a:ea typeface="Times New Roman"/>
                <a:cs typeface="Times New Roman"/>
                <a:sym typeface="Times New Roman"/>
              </a:rPr>
              <a:t>CarbonLens</a:t>
            </a:r>
            <a:r>
              <a:rPr lang="en-US" sz="2204" dirty="0">
                <a:solidFill>
                  <a:srgbClr val="262626"/>
                </a:solidFill>
                <a:latin typeface="Times New Roman"/>
                <a:ea typeface="Times New Roman"/>
                <a:cs typeface="Times New Roman"/>
                <a:sym typeface="Times New Roman"/>
              </a:rPr>
              <a:t> also supports AI-assisted activity analysis, allowing users to describe their activities in natural language for automatic emission estimation. The platform promotes awareness and motivates users to make small lifestyle changes that can collectively create a positive environmental impact.</a:t>
            </a:r>
          </a:p>
        </p:txBody>
      </p:sp>
      <p:grpSp>
        <p:nvGrpSpPr>
          <p:cNvPr id="20" name="Group 20"/>
          <p:cNvGrpSpPr/>
          <p:nvPr/>
        </p:nvGrpSpPr>
        <p:grpSpPr>
          <a:xfrm>
            <a:off x="10259372" y="2120770"/>
            <a:ext cx="6813810" cy="7934154"/>
            <a:chOff x="0" y="0"/>
            <a:chExt cx="1794584" cy="2089654"/>
          </a:xfrm>
        </p:grpSpPr>
        <p:sp>
          <p:nvSpPr>
            <p:cNvPr id="21" name="Freeform 21"/>
            <p:cNvSpPr/>
            <p:nvPr/>
          </p:nvSpPr>
          <p:spPr>
            <a:xfrm>
              <a:off x="0" y="0"/>
              <a:ext cx="1794584" cy="2089654"/>
            </a:xfrm>
            <a:custGeom>
              <a:avLst/>
              <a:gdLst/>
              <a:ahLst/>
              <a:cxnLst/>
              <a:rect l="l" t="t" r="r" b="b"/>
              <a:pathLst>
                <a:path w="1794584" h="2089654">
                  <a:moveTo>
                    <a:pt x="57947" y="0"/>
                  </a:moveTo>
                  <a:lnTo>
                    <a:pt x="1736637" y="0"/>
                  </a:lnTo>
                  <a:cubicBezTo>
                    <a:pt x="1768640" y="0"/>
                    <a:pt x="1794584" y="25944"/>
                    <a:pt x="1794584" y="57947"/>
                  </a:cubicBezTo>
                  <a:lnTo>
                    <a:pt x="1794584" y="2031707"/>
                  </a:lnTo>
                  <a:cubicBezTo>
                    <a:pt x="1794584" y="2063710"/>
                    <a:pt x="1768640" y="2089654"/>
                    <a:pt x="1736637" y="2089654"/>
                  </a:cubicBezTo>
                  <a:lnTo>
                    <a:pt x="57947" y="2089654"/>
                  </a:lnTo>
                  <a:cubicBezTo>
                    <a:pt x="42578" y="2089654"/>
                    <a:pt x="27839" y="2083549"/>
                    <a:pt x="16972" y="2072681"/>
                  </a:cubicBezTo>
                  <a:cubicBezTo>
                    <a:pt x="6105" y="2061814"/>
                    <a:pt x="0" y="2047075"/>
                    <a:pt x="0" y="2031707"/>
                  </a:cubicBezTo>
                  <a:lnTo>
                    <a:pt x="0" y="57947"/>
                  </a:lnTo>
                  <a:cubicBezTo>
                    <a:pt x="0" y="25944"/>
                    <a:pt x="25944" y="0"/>
                    <a:pt x="57947" y="0"/>
                  </a:cubicBezTo>
                  <a:close/>
                </a:path>
              </a:pathLst>
            </a:custGeom>
            <a:solidFill>
              <a:srgbClr val="766F54">
                <a:alpha val="28627"/>
              </a:srgbClr>
            </a:solidFill>
          </p:spPr>
        </p:sp>
        <p:sp>
          <p:nvSpPr>
            <p:cNvPr id="22" name="TextBox 22"/>
            <p:cNvSpPr txBox="1"/>
            <p:nvPr/>
          </p:nvSpPr>
          <p:spPr>
            <a:xfrm>
              <a:off x="0" y="-38100"/>
              <a:ext cx="1794584" cy="2127754"/>
            </a:xfrm>
            <a:prstGeom prst="rect">
              <a:avLst/>
            </a:prstGeom>
          </p:spPr>
          <p:txBody>
            <a:bodyPr lIns="50800" tIns="50800" rIns="50800" bIns="50800" rtlCol="0" anchor="ctr"/>
            <a:lstStyle/>
            <a:p>
              <a:pPr algn="ctr">
                <a:lnSpc>
                  <a:spcPts val="2659"/>
                </a:lnSpc>
                <a:spcBef>
                  <a:spcPct val="0"/>
                </a:spcBef>
              </a:pPr>
              <a:endParaRPr/>
            </a:p>
          </p:txBody>
        </p:sp>
      </p:grpSp>
      <p:sp>
        <p:nvSpPr>
          <p:cNvPr id="23" name="TextBox 23"/>
          <p:cNvSpPr txBox="1"/>
          <p:nvPr/>
        </p:nvSpPr>
        <p:spPr>
          <a:xfrm>
            <a:off x="10502434" y="2382152"/>
            <a:ext cx="6258089" cy="6463308"/>
          </a:xfrm>
          <a:prstGeom prst="rect">
            <a:avLst/>
          </a:prstGeom>
        </p:spPr>
        <p:txBody>
          <a:bodyPr lIns="0" tIns="0" rIns="0" bIns="0" rtlCol="0" anchor="t">
            <a:spAutoFit/>
          </a:bodyPr>
          <a:lstStyle/>
          <a:p>
            <a:pPr algn="ctr">
              <a:lnSpc>
                <a:spcPts val="2822"/>
              </a:lnSpc>
            </a:pPr>
            <a:r>
              <a:rPr lang="en-US" sz="2352" dirty="0">
                <a:solidFill>
                  <a:srgbClr val="262626"/>
                </a:solidFill>
                <a:latin typeface="Times New Roman"/>
                <a:ea typeface="Times New Roman"/>
                <a:cs typeface="Times New Roman"/>
                <a:sym typeface="Times New Roman"/>
              </a:rPr>
              <a:t>1.2 Purpose</a:t>
            </a:r>
          </a:p>
          <a:p>
            <a:pPr algn="ctr">
              <a:lnSpc>
                <a:spcPts val="2822"/>
              </a:lnSpc>
            </a:pPr>
            <a:endParaRPr lang="en-US" sz="2352" dirty="0">
              <a:solidFill>
                <a:srgbClr val="262626"/>
              </a:solidFill>
              <a:latin typeface="Times New Roman"/>
              <a:ea typeface="Times New Roman"/>
              <a:cs typeface="Times New Roman"/>
              <a:sym typeface="Times New Roman"/>
            </a:endParaRPr>
          </a:p>
          <a:p>
            <a:pPr algn="ctr">
              <a:lnSpc>
                <a:spcPts val="2822"/>
              </a:lnSpc>
              <a:spcBef>
                <a:spcPct val="0"/>
              </a:spcBef>
            </a:pPr>
            <a:r>
              <a:rPr lang="en-US" sz="2352" dirty="0">
                <a:solidFill>
                  <a:srgbClr val="262626"/>
                </a:solidFill>
                <a:latin typeface="Times New Roman"/>
                <a:ea typeface="Times New Roman"/>
                <a:cs typeface="Times New Roman"/>
                <a:sym typeface="Times New Roman"/>
              </a:rPr>
              <a:t>The purpose of </a:t>
            </a:r>
            <a:r>
              <a:rPr lang="en-US" sz="2352" dirty="0" err="1">
                <a:solidFill>
                  <a:srgbClr val="262626"/>
                </a:solidFill>
                <a:latin typeface="Times New Roman"/>
                <a:ea typeface="Times New Roman"/>
                <a:cs typeface="Times New Roman"/>
                <a:sym typeface="Times New Roman"/>
              </a:rPr>
              <a:t>CarbonLens</a:t>
            </a:r>
            <a:r>
              <a:rPr lang="en-US" sz="2352" dirty="0">
                <a:solidFill>
                  <a:srgbClr val="262626"/>
                </a:solidFill>
                <a:latin typeface="Times New Roman"/>
                <a:ea typeface="Times New Roman"/>
                <a:cs typeface="Times New Roman"/>
                <a:sym typeface="Times New Roman"/>
              </a:rPr>
              <a:t> is to help individuals become more aware of the environmental impact of their daily activities by providing an easy and effective way to monitor carbon emissions. The platform encourages users to adopt sustainable habits by tracking emissions from different lifestyle choices and presenting them in a simple, understandable format.</a:t>
            </a:r>
          </a:p>
          <a:p>
            <a:pPr algn="ctr">
              <a:lnSpc>
                <a:spcPts val="2822"/>
              </a:lnSpc>
              <a:spcBef>
                <a:spcPct val="0"/>
              </a:spcBef>
            </a:pPr>
            <a:r>
              <a:rPr lang="en-US" sz="2352" dirty="0">
                <a:solidFill>
                  <a:srgbClr val="262626"/>
                </a:solidFill>
                <a:latin typeface="Times New Roman"/>
                <a:ea typeface="Times New Roman"/>
                <a:cs typeface="Times New Roman"/>
                <a:sym typeface="Times New Roman"/>
              </a:rPr>
              <a:t>It also aims to provide personalized recommendations through AI-generated insights, helping users identify areas where they can reduce their carbon footprint. Through interactive dashboards, reports, and continuous feedback, </a:t>
            </a:r>
            <a:r>
              <a:rPr lang="en-US" sz="2352" dirty="0" err="1">
                <a:solidFill>
                  <a:srgbClr val="262626"/>
                </a:solidFill>
                <a:latin typeface="Times New Roman"/>
                <a:ea typeface="Times New Roman"/>
                <a:cs typeface="Times New Roman"/>
                <a:sym typeface="Times New Roman"/>
              </a:rPr>
              <a:t>CarbonLens</a:t>
            </a:r>
            <a:r>
              <a:rPr lang="en-US" sz="2352" dirty="0">
                <a:solidFill>
                  <a:srgbClr val="262626"/>
                </a:solidFill>
                <a:latin typeface="Times New Roman"/>
                <a:ea typeface="Times New Roman"/>
                <a:cs typeface="Times New Roman"/>
                <a:sym typeface="Times New Roman"/>
              </a:rPr>
              <a:t> motivates users to make informed decisions and contribute towards building a greener and more sustainable future.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sp>
        <p:nvSpPr>
          <p:cNvPr id="12" name="TextBox 12"/>
          <p:cNvSpPr txBox="1"/>
          <p:nvPr/>
        </p:nvSpPr>
        <p:spPr>
          <a:xfrm>
            <a:off x="3019282" y="884025"/>
            <a:ext cx="13184848" cy="1849145"/>
          </a:xfrm>
          <a:prstGeom prst="rect">
            <a:avLst/>
          </a:prstGeom>
        </p:spPr>
        <p:txBody>
          <a:bodyPr lIns="0" tIns="0" rIns="0" bIns="0" rtlCol="0" anchor="t">
            <a:spAutoFit/>
          </a:bodyPr>
          <a:lstStyle/>
          <a:p>
            <a:pPr algn="l">
              <a:lnSpc>
                <a:spcPts val="5040"/>
              </a:lnSpc>
            </a:pPr>
            <a:r>
              <a:rPr lang="en-US" sz="4200">
                <a:solidFill>
                  <a:srgbClr val="262626"/>
                </a:solidFill>
                <a:latin typeface="Times New Roman"/>
                <a:ea typeface="Times New Roman"/>
                <a:cs typeface="Times New Roman"/>
                <a:sym typeface="Times New Roman"/>
              </a:rPr>
              <a:t>2. Literature Review</a:t>
            </a:r>
          </a:p>
        </p:txBody>
      </p:sp>
      <p:grpSp>
        <p:nvGrpSpPr>
          <p:cNvPr id="13" name="Group 13"/>
          <p:cNvGrpSpPr/>
          <p:nvPr/>
        </p:nvGrpSpPr>
        <p:grpSpPr>
          <a:xfrm>
            <a:off x="16833047" y="9507236"/>
            <a:ext cx="1169651" cy="547688"/>
            <a:chOff x="0" y="0"/>
            <a:chExt cx="1559535" cy="730250"/>
          </a:xfrm>
        </p:grpSpPr>
        <p:sp>
          <p:nvSpPr>
            <p:cNvPr id="14" name="Freeform 14"/>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5" name="TextBox 15"/>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4</a:t>
              </a:r>
            </a:p>
          </p:txBody>
        </p:sp>
      </p:grpSp>
      <p:graphicFrame>
        <p:nvGraphicFramePr>
          <p:cNvPr id="16" name="Table 16"/>
          <p:cNvGraphicFramePr>
            <a:graphicFrameLocks noGrp="1"/>
          </p:cNvGraphicFramePr>
          <p:nvPr>
            <p:extLst>
              <p:ext uri="{D42A27DB-BD31-4B8C-83A1-F6EECF244321}">
                <p14:modId xmlns:p14="http://schemas.microsoft.com/office/powerpoint/2010/main" val="3459372627"/>
              </p:ext>
            </p:extLst>
          </p:nvPr>
        </p:nvGraphicFramePr>
        <p:xfrm>
          <a:off x="2955739" y="1714500"/>
          <a:ext cx="14646461" cy="7579470"/>
        </p:xfrm>
        <a:graphic>
          <a:graphicData uri="http://schemas.openxmlformats.org/drawingml/2006/table">
            <a:tbl>
              <a:tblPr/>
              <a:tblGrid>
                <a:gridCol w="1026226">
                  <a:extLst>
                    <a:ext uri="{9D8B030D-6E8A-4147-A177-3AD203B41FA5}">
                      <a16:colId xmlns:a16="http://schemas.microsoft.com/office/drawing/2014/main" val="20000"/>
                    </a:ext>
                  </a:extLst>
                </a:gridCol>
                <a:gridCol w="3427311">
                  <a:extLst>
                    <a:ext uri="{9D8B030D-6E8A-4147-A177-3AD203B41FA5}">
                      <a16:colId xmlns:a16="http://schemas.microsoft.com/office/drawing/2014/main" val="20001"/>
                    </a:ext>
                  </a:extLst>
                </a:gridCol>
                <a:gridCol w="2666386">
                  <a:extLst>
                    <a:ext uri="{9D8B030D-6E8A-4147-A177-3AD203B41FA5}">
                      <a16:colId xmlns:a16="http://schemas.microsoft.com/office/drawing/2014/main" val="20002"/>
                    </a:ext>
                  </a:extLst>
                </a:gridCol>
                <a:gridCol w="2626433">
                  <a:extLst>
                    <a:ext uri="{9D8B030D-6E8A-4147-A177-3AD203B41FA5}">
                      <a16:colId xmlns:a16="http://schemas.microsoft.com/office/drawing/2014/main" val="20003"/>
                    </a:ext>
                  </a:extLst>
                </a:gridCol>
                <a:gridCol w="2608931">
                  <a:extLst>
                    <a:ext uri="{9D8B030D-6E8A-4147-A177-3AD203B41FA5}">
                      <a16:colId xmlns:a16="http://schemas.microsoft.com/office/drawing/2014/main" val="20004"/>
                    </a:ext>
                  </a:extLst>
                </a:gridCol>
                <a:gridCol w="2291174">
                  <a:extLst>
                    <a:ext uri="{9D8B030D-6E8A-4147-A177-3AD203B41FA5}">
                      <a16:colId xmlns:a16="http://schemas.microsoft.com/office/drawing/2014/main" val="20005"/>
                    </a:ext>
                  </a:extLst>
                </a:gridCol>
              </a:tblGrid>
              <a:tr h="721056">
                <a:tc>
                  <a:txBody>
                    <a:bodyPr/>
                    <a:lstStyle/>
                    <a:p>
                      <a:pPr algn="l">
                        <a:lnSpc>
                          <a:spcPts val="3779"/>
                        </a:lnSpc>
                        <a:defRPr/>
                      </a:pPr>
                      <a:r>
                        <a:rPr lang="en-US" sz="3150" b="1">
                          <a:solidFill>
                            <a:srgbClr val="000000"/>
                          </a:solidFill>
                          <a:latin typeface="Times New Roman Bold"/>
                          <a:ea typeface="Times New Roman Bold"/>
                          <a:cs typeface="Times New Roman Bold"/>
                          <a:sym typeface="Times New Roman Bold"/>
                        </a:rPr>
                        <a:t>S.No</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A53010"/>
                    </a:solidFill>
                  </a:tcPr>
                </a:tc>
                <a:tc>
                  <a:txBody>
                    <a:bodyPr/>
                    <a:lstStyle/>
                    <a:p>
                      <a:pPr algn="l">
                        <a:lnSpc>
                          <a:spcPts val="3419"/>
                        </a:lnSpc>
                        <a:defRPr/>
                      </a:pPr>
                      <a:r>
                        <a:rPr lang="en-US" sz="2850" b="1">
                          <a:solidFill>
                            <a:srgbClr val="000000"/>
                          </a:solidFill>
                          <a:latin typeface="Times New Roman Bold"/>
                          <a:ea typeface="Times New Roman Bold"/>
                          <a:cs typeface="Times New Roman Bold"/>
                          <a:sym typeface="Times New Roman Bold"/>
                        </a:rPr>
                        <a:t>      Author</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A53010"/>
                    </a:solidFill>
                  </a:tcPr>
                </a:tc>
                <a:tc>
                  <a:txBody>
                    <a:bodyPr/>
                    <a:lstStyle/>
                    <a:p>
                      <a:pPr algn="l">
                        <a:lnSpc>
                          <a:spcPts val="3419"/>
                        </a:lnSpc>
                        <a:defRPr/>
                      </a:pPr>
                      <a:r>
                        <a:rPr lang="en-US" sz="2850" b="1">
                          <a:solidFill>
                            <a:srgbClr val="000000"/>
                          </a:solidFill>
                          <a:latin typeface="Times New Roman Bold"/>
                          <a:ea typeface="Times New Roman Bold"/>
                          <a:cs typeface="Times New Roman Bold"/>
                          <a:sym typeface="Times New Roman Bold"/>
                        </a:rPr>
                        <a:t>       Features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A53010"/>
                    </a:solidFill>
                  </a:tcPr>
                </a:tc>
                <a:tc>
                  <a:txBody>
                    <a:bodyPr/>
                    <a:lstStyle/>
                    <a:p>
                      <a:pPr algn="l">
                        <a:lnSpc>
                          <a:spcPts val="3419"/>
                        </a:lnSpc>
                        <a:defRPr/>
                      </a:pPr>
                      <a:r>
                        <a:rPr lang="en-US" sz="2850" b="1">
                          <a:solidFill>
                            <a:srgbClr val="000000"/>
                          </a:solidFill>
                          <a:latin typeface="Times New Roman Bold"/>
                          <a:ea typeface="Times New Roman Bold"/>
                          <a:cs typeface="Times New Roman Bold"/>
                          <a:sym typeface="Times New Roman Bold"/>
                        </a:rPr>
                        <a:t>  Methods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A53010"/>
                    </a:solidFill>
                  </a:tcPr>
                </a:tc>
                <a:tc>
                  <a:txBody>
                    <a:bodyPr/>
                    <a:lstStyle/>
                    <a:p>
                      <a:pPr algn="l">
                        <a:lnSpc>
                          <a:spcPts val="3419"/>
                        </a:lnSpc>
                        <a:defRPr/>
                      </a:pPr>
                      <a:r>
                        <a:rPr lang="en-US" sz="2850" b="1">
                          <a:solidFill>
                            <a:srgbClr val="000000"/>
                          </a:solidFill>
                          <a:latin typeface="Times New Roman Bold"/>
                          <a:ea typeface="Times New Roman Bold"/>
                          <a:cs typeface="Times New Roman Bold"/>
                          <a:sym typeface="Times New Roman Bold"/>
                        </a:rPr>
                        <a:t>Advantages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A53010"/>
                    </a:solidFill>
                  </a:tcPr>
                </a:tc>
                <a:tc>
                  <a:txBody>
                    <a:bodyPr/>
                    <a:lstStyle/>
                    <a:p>
                      <a:pPr algn="l">
                        <a:lnSpc>
                          <a:spcPts val="3240"/>
                        </a:lnSpc>
                        <a:defRPr/>
                      </a:pPr>
                      <a:r>
                        <a:rPr lang="en-US" sz="2700" b="1">
                          <a:solidFill>
                            <a:srgbClr val="000000"/>
                          </a:solidFill>
                          <a:latin typeface="Times New Roman Bold"/>
                          <a:ea typeface="Times New Roman Bold"/>
                          <a:cs typeface="Times New Roman Bold"/>
                          <a:sym typeface="Times New Roman Bold"/>
                        </a:rPr>
                        <a:t>Disadvantage</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A53010"/>
                    </a:solidFill>
                  </a:tcPr>
                </a:tc>
                <a:extLst>
                  <a:ext uri="{0D108BD9-81ED-4DB2-BD59-A6C34878D82A}">
                    <a16:rowId xmlns:a16="http://schemas.microsoft.com/office/drawing/2014/main" val="10000"/>
                  </a:ext>
                </a:extLst>
              </a:tr>
              <a:tr h="1089969">
                <a:tc>
                  <a:txBody>
                    <a:bodyPr/>
                    <a:lstStyle/>
                    <a:p>
                      <a:pPr algn="l">
                        <a:lnSpc>
                          <a:spcPts val="2520"/>
                        </a:lnSpc>
                        <a:defRPr/>
                      </a:pPr>
                      <a:r>
                        <a:rPr lang="en-US" sz="2100">
                          <a:solidFill>
                            <a:srgbClr val="000000"/>
                          </a:solidFill>
                          <a:latin typeface="Times New Roman"/>
                          <a:ea typeface="Times New Roman"/>
                          <a:cs typeface="Times New Roman"/>
                          <a:sym typeface="Times New Roman"/>
                        </a:rPr>
                        <a:t>1</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20"/>
                        </a:lnSpc>
                        <a:defRPr/>
                      </a:pPr>
                      <a:r>
                        <a:rPr lang="en-IN" sz="2100" dirty="0">
                          <a:latin typeface="Times New Roman" panose="02020603050405020304" pitchFamily="18" charset="0"/>
                          <a:cs typeface="Times New Roman" panose="02020603050405020304" pitchFamily="18" charset="0"/>
                        </a:rPr>
                        <a:t>Carbon Footprint Monitoring Studies</a:t>
                      </a:r>
                      <a:endParaRPr lang="en-US" sz="2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20"/>
                        </a:lnSpc>
                        <a:defRPr/>
                      </a:pPr>
                      <a:r>
                        <a:rPr lang="en-IN" sz="2100" dirty="0">
                          <a:latin typeface="Times New Roman" panose="02020603050405020304" pitchFamily="18" charset="0"/>
                          <a:cs typeface="Times New Roman" panose="02020603050405020304" pitchFamily="18" charset="0"/>
                        </a:rPr>
                        <a:t>Emission tracking</a:t>
                      </a:r>
                      <a:endParaRPr lang="en-US" sz="2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20"/>
                        </a:lnSpc>
                        <a:defRPr/>
                      </a:pPr>
                      <a:r>
                        <a:rPr lang="en-IN" sz="2100" dirty="0">
                          <a:latin typeface="Times New Roman" panose="02020603050405020304" pitchFamily="18" charset="0"/>
                          <a:cs typeface="Times New Roman" panose="02020603050405020304" pitchFamily="18" charset="0"/>
                        </a:rPr>
                        <a:t>Activity-based calculations</a:t>
                      </a:r>
                      <a:endParaRPr lang="en-US" sz="2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20"/>
                        </a:lnSpc>
                        <a:defRPr/>
                      </a:pPr>
                      <a:r>
                        <a:rPr lang="en-IN" sz="2100" dirty="0">
                          <a:latin typeface="Times New Roman" panose="02020603050405020304" pitchFamily="18" charset="0"/>
                          <a:cs typeface="Times New Roman" panose="02020603050405020304" pitchFamily="18" charset="0"/>
                        </a:rPr>
                        <a:t>Environmental awareness</a:t>
                      </a:r>
                      <a:endParaRPr lang="en-US" sz="2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20"/>
                        </a:lnSpc>
                        <a:defRPr/>
                      </a:pPr>
                      <a:r>
                        <a:rPr lang="en-IN" sz="2100" dirty="0">
                          <a:latin typeface="Times New Roman" panose="02020603050405020304" pitchFamily="18" charset="0"/>
                          <a:cs typeface="Times New Roman" panose="02020603050405020304" pitchFamily="18" charset="0"/>
                        </a:rPr>
                        <a:t>Limited personalization</a:t>
                      </a:r>
                      <a:endParaRPr lang="en-US" sz="2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90580">
                <a:tc>
                  <a:txBody>
                    <a:bodyPr/>
                    <a:lstStyle/>
                    <a:p>
                      <a:pPr algn="l">
                        <a:lnSpc>
                          <a:spcPts val="2520"/>
                        </a:lnSpc>
                        <a:defRPr/>
                      </a:pPr>
                      <a:r>
                        <a:rPr lang="en-US" sz="2100">
                          <a:solidFill>
                            <a:srgbClr val="000000"/>
                          </a:solidFill>
                          <a:latin typeface="Times New Roman"/>
                          <a:ea typeface="Times New Roman"/>
                          <a:cs typeface="Times New Roman"/>
                          <a:sym typeface="Times New Roman"/>
                        </a:rPr>
                        <a:t>2</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AI Recommendation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AI Recommendation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AI Recommendation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AI Recommendation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AI Recommendation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66652">
                <a:tc>
                  <a:txBody>
                    <a:bodyPr/>
                    <a:lstStyle/>
                    <a:p>
                      <a:pPr algn="l">
                        <a:lnSpc>
                          <a:spcPts val="2520"/>
                        </a:lnSpc>
                        <a:defRPr/>
                      </a:pPr>
                      <a:r>
                        <a:rPr lang="en-US" sz="2100">
                          <a:solidFill>
                            <a:srgbClr val="000000"/>
                          </a:solidFill>
                          <a:latin typeface="Times New Roman"/>
                          <a:ea typeface="Times New Roman"/>
                          <a:cs typeface="Times New Roman"/>
                          <a:sym typeface="Times New Roman"/>
                        </a:rPr>
                        <a:t>3</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a:latin typeface="Times New Roman" panose="02020603050405020304" pitchFamily="18" charset="0"/>
                          <a:cs typeface="Times New Roman" panose="02020603050405020304" pitchFamily="18" charset="0"/>
                        </a:rPr>
                        <a:t>Sustainable Lifestyle Platforms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Sustainable Lifestyle Platforms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a:latin typeface="Times New Roman" panose="02020603050405020304" pitchFamily="18" charset="0"/>
                          <a:cs typeface="Times New Roman" panose="02020603050405020304" pitchFamily="18" charset="0"/>
                        </a:rPr>
                        <a:t>Sustainable Lifestyle Platforms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a:latin typeface="Times New Roman" panose="02020603050405020304" pitchFamily="18" charset="0"/>
                          <a:cs typeface="Times New Roman" panose="02020603050405020304" pitchFamily="18" charset="0"/>
                        </a:rPr>
                        <a:t>Sustainable Lifestyle Platforms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Sustainable Lifestyle Platforms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366652">
                <a:tc>
                  <a:txBody>
                    <a:bodyPr/>
                    <a:lstStyle/>
                    <a:p>
                      <a:pPr algn="l">
                        <a:lnSpc>
                          <a:spcPts val="2520"/>
                        </a:lnSpc>
                        <a:defRPr/>
                      </a:pPr>
                      <a:r>
                        <a:rPr lang="en-US" sz="2100">
                          <a:solidFill>
                            <a:srgbClr val="000000"/>
                          </a:solidFill>
                          <a:latin typeface="Times New Roman"/>
                          <a:ea typeface="Times New Roman"/>
                          <a:cs typeface="Times New Roman"/>
                          <a:sym typeface="Times New Roman"/>
                        </a:rPr>
                        <a:t>4</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a:latin typeface="Times New Roman" panose="02020603050405020304" pitchFamily="18" charset="0"/>
                          <a:cs typeface="Times New Roman" panose="02020603050405020304" pitchFamily="18" charset="0"/>
                        </a:rPr>
                        <a:t>Emission Analytics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a:latin typeface="Times New Roman" panose="02020603050405020304" pitchFamily="18" charset="0"/>
                          <a:cs typeface="Times New Roman" panose="02020603050405020304" pitchFamily="18" charset="0"/>
                        </a:rPr>
                        <a:t>Emission Analytics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Emission Analytics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Emission Analytics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Emission Analytics Systems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44561">
                <a:tc>
                  <a:txBody>
                    <a:bodyPr/>
                    <a:lstStyle/>
                    <a:p>
                      <a:pPr algn="l">
                        <a:lnSpc>
                          <a:spcPts val="2520"/>
                        </a:lnSpc>
                        <a:defRPr/>
                      </a:pPr>
                      <a:r>
                        <a:rPr lang="en-US" sz="2100">
                          <a:solidFill>
                            <a:srgbClr val="000000"/>
                          </a:solidFill>
                          <a:latin typeface="Times New Roman"/>
                          <a:ea typeface="Times New Roman"/>
                          <a:cs typeface="Times New Roman"/>
                          <a:sym typeface="Times New Roman"/>
                        </a:rPr>
                        <a:t>5</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a:latin typeface="Times New Roman" panose="02020603050405020304" pitchFamily="18" charset="0"/>
                          <a:cs typeface="Times New Roman" panose="02020603050405020304" pitchFamily="18" charset="0"/>
                        </a:rPr>
                        <a:t>AI-driven Sustainability Applications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a:latin typeface="Times New Roman" panose="02020603050405020304" pitchFamily="18" charset="0"/>
                          <a:cs typeface="Times New Roman" panose="02020603050405020304" pitchFamily="18" charset="0"/>
                        </a:rPr>
                        <a:t>AI-driven Sustainability Applications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a:latin typeface="Times New Roman" panose="02020603050405020304" pitchFamily="18" charset="0"/>
                          <a:cs typeface="Times New Roman" panose="02020603050405020304" pitchFamily="18" charset="0"/>
                        </a:rPr>
                        <a:t>AI-driven Sustainability Applications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AI-driven Sustainability Applications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100" dirty="0">
                          <a:latin typeface="Times New Roman" panose="02020603050405020304" pitchFamily="18" charset="0"/>
                          <a:cs typeface="Times New Roman" panose="02020603050405020304" pitchFamily="18" charset="0"/>
                        </a:rPr>
                        <a:t>AI-driven Sustainability Applications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sp>
        <p:nvSpPr>
          <p:cNvPr id="12" name="TextBox 12"/>
          <p:cNvSpPr txBox="1"/>
          <p:nvPr/>
        </p:nvSpPr>
        <p:spPr>
          <a:xfrm>
            <a:off x="3575847" y="990600"/>
            <a:ext cx="13184676" cy="1868033"/>
          </a:xfrm>
          <a:prstGeom prst="rect">
            <a:avLst/>
          </a:prstGeom>
        </p:spPr>
        <p:txBody>
          <a:bodyPr lIns="0" tIns="0" rIns="0" bIns="0" rtlCol="0" anchor="t">
            <a:spAutoFit/>
          </a:bodyPr>
          <a:lstStyle/>
          <a:p>
            <a:pPr algn="l">
              <a:lnSpc>
                <a:spcPts val="7200"/>
              </a:lnSpc>
            </a:pPr>
            <a:r>
              <a:rPr lang="en-US" sz="6000">
                <a:solidFill>
                  <a:srgbClr val="262626"/>
                </a:solidFill>
                <a:latin typeface="Times New Roman"/>
                <a:ea typeface="Times New Roman"/>
                <a:cs typeface="Times New Roman"/>
                <a:sym typeface="Times New Roman"/>
              </a:rPr>
              <a:t>3. Problem Statement</a:t>
            </a:r>
          </a:p>
        </p:txBody>
      </p:sp>
      <p:sp>
        <p:nvSpPr>
          <p:cNvPr id="13" name="TextBox 13"/>
          <p:cNvSpPr txBox="1"/>
          <p:nvPr/>
        </p:nvSpPr>
        <p:spPr>
          <a:xfrm>
            <a:off x="3575847" y="2044570"/>
            <a:ext cx="13257200" cy="7325082"/>
          </a:xfrm>
          <a:prstGeom prst="rect">
            <a:avLst/>
          </a:prstGeom>
        </p:spPr>
        <p:txBody>
          <a:bodyPr wrap="square" lIns="0" tIns="0" rIns="0" bIns="0" rtlCol="0" anchor="t">
            <a:spAutoFit/>
          </a:bodyPr>
          <a:lstStyle/>
          <a:p>
            <a:pPr marL="742950" indent="-742950">
              <a:buFont typeface="+mj-lt"/>
              <a:buAutoNum type="arabicPeriod"/>
            </a:pPr>
            <a:r>
              <a:rPr lang="en-US" sz="3400" dirty="0">
                <a:latin typeface="Times New Roman" panose="02020603050405020304" pitchFamily="18" charset="0"/>
                <a:cs typeface="Times New Roman" panose="02020603050405020304" pitchFamily="18" charset="0"/>
              </a:rPr>
              <a:t>Many individuals are unaware of how their daily activities contribute to carbon emissions and environmental degradation.</a:t>
            </a:r>
          </a:p>
          <a:p>
            <a:pPr marL="742950" indent="-742950">
              <a:buFont typeface="+mj-lt"/>
              <a:buAutoNum type="arabicPeriod"/>
            </a:pPr>
            <a:r>
              <a:rPr lang="en-US" sz="3400" dirty="0">
                <a:latin typeface="Times New Roman" panose="02020603050405020304" pitchFamily="18" charset="0"/>
                <a:cs typeface="Times New Roman" panose="02020603050405020304" pitchFamily="18" charset="0"/>
              </a:rPr>
              <a:t>Existing carbon footprint calculators often provide only one-time estimates and lack continuous tracking features.</a:t>
            </a:r>
          </a:p>
          <a:p>
            <a:pPr marL="742950" indent="-742950">
              <a:buFont typeface="+mj-lt"/>
              <a:buAutoNum type="arabicPeriod"/>
            </a:pPr>
            <a:r>
              <a:rPr lang="en-US" sz="3400" dirty="0">
                <a:latin typeface="Times New Roman" panose="02020603050405020304" pitchFamily="18" charset="0"/>
                <a:cs typeface="Times New Roman" panose="02020603050405020304" pitchFamily="18" charset="0"/>
              </a:rPr>
              <a:t>Most available platforms do not offer personalized recommendations to help users reduce their carbon footprint effectively.</a:t>
            </a:r>
          </a:p>
          <a:p>
            <a:pPr marL="742950" indent="-742950">
              <a:buFont typeface="+mj-lt"/>
              <a:buAutoNum type="arabicPeriod"/>
            </a:pPr>
            <a:r>
              <a:rPr lang="en-US" sz="3400" dirty="0">
                <a:latin typeface="Times New Roman" panose="02020603050405020304" pitchFamily="18" charset="0"/>
                <a:cs typeface="Times New Roman" panose="02020603050405020304" pitchFamily="18" charset="0"/>
              </a:rPr>
              <a:t>Users face difficulties in identifying which activities contribute the most to their overall emissions.</a:t>
            </a:r>
          </a:p>
          <a:p>
            <a:pPr marL="742950" indent="-742950">
              <a:buFont typeface="+mj-lt"/>
              <a:buAutoNum type="arabicPeriod"/>
            </a:pPr>
            <a:r>
              <a:rPr lang="en-US" sz="3400" dirty="0">
                <a:latin typeface="Times New Roman" panose="02020603050405020304" pitchFamily="18" charset="0"/>
                <a:cs typeface="Times New Roman" panose="02020603050405020304" pitchFamily="18" charset="0"/>
              </a:rPr>
              <a:t>There is a lack of interactive dashboards and detailed reports that can help users monitor their progress over time.</a:t>
            </a:r>
          </a:p>
          <a:p>
            <a:pPr marL="742950" indent="-742950">
              <a:buFont typeface="+mj-lt"/>
              <a:buAutoNum type="arabicPeriod"/>
            </a:pPr>
            <a:r>
              <a:rPr lang="en-US" sz="3400" dirty="0">
                <a:latin typeface="Times New Roman" panose="02020603050405020304" pitchFamily="18" charset="0"/>
                <a:cs typeface="Times New Roman" panose="02020603050405020304" pitchFamily="18" charset="0"/>
              </a:rPr>
              <a:t>Therefore, there is a need for an AI-powered system that can track carbon emissions, provide meaningful insights, and encourage sustainable lifestyle choices through personalized guidance and real-time analytics</a:t>
            </a:r>
          </a:p>
        </p:txBody>
      </p:sp>
      <p:grpSp>
        <p:nvGrpSpPr>
          <p:cNvPr id="14" name="Group 14"/>
          <p:cNvGrpSpPr/>
          <p:nvPr/>
        </p:nvGrpSpPr>
        <p:grpSpPr>
          <a:xfrm>
            <a:off x="16833047" y="9507236"/>
            <a:ext cx="1169651" cy="547688"/>
            <a:chOff x="0" y="0"/>
            <a:chExt cx="1559535" cy="730250"/>
          </a:xfrm>
        </p:grpSpPr>
        <p:sp>
          <p:nvSpPr>
            <p:cNvPr id="15" name="Freeform 15"/>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6" name="TextBox 16"/>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sp>
        <p:nvSpPr>
          <p:cNvPr id="12" name="TextBox 12"/>
          <p:cNvSpPr txBox="1"/>
          <p:nvPr/>
        </p:nvSpPr>
        <p:spPr>
          <a:xfrm>
            <a:off x="3582781" y="990600"/>
            <a:ext cx="13490400" cy="952500"/>
          </a:xfrm>
          <a:prstGeom prst="rect">
            <a:avLst/>
          </a:prstGeom>
        </p:spPr>
        <p:txBody>
          <a:bodyPr lIns="0" tIns="0" rIns="0" bIns="0" rtlCol="0" anchor="t">
            <a:spAutoFit/>
          </a:bodyPr>
          <a:lstStyle/>
          <a:p>
            <a:pPr algn="l">
              <a:lnSpc>
                <a:spcPts val="7200"/>
              </a:lnSpc>
            </a:pPr>
            <a:r>
              <a:rPr lang="en-US" sz="6000">
                <a:solidFill>
                  <a:srgbClr val="262626"/>
                </a:solidFill>
                <a:latin typeface="Times New Roman"/>
                <a:ea typeface="Times New Roman"/>
                <a:cs typeface="Times New Roman"/>
                <a:sym typeface="Times New Roman"/>
              </a:rPr>
              <a:t>4.Proposed Solution</a:t>
            </a:r>
          </a:p>
        </p:txBody>
      </p:sp>
      <p:grpSp>
        <p:nvGrpSpPr>
          <p:cNvPr id="13" name="Group 13"/>
          <p:cNvGrpSpPr/>
          <p:nvPr/>
        </p:nvGrpSpPr>
        <p:grpSpPr>
          <a:xfrm>
            <a:off x="16833047" y="9507236"/>
            <a:ext cx="1169651" cy="547688"/>
            <a:chOff x="0" y="0"/>
            <a:chExt cx="1559535" cy="730250"/>
          </a:xfrm>
        </p:grpSpPr>
        <p:sp>
          <p:nvSpPr>
            <p:cNvPr id="14" name="Freeform 14"/>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5" name="TextBox 15"/>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7</a:t>
              </a:r>
            </a:p>
          </p:txBody>
        </p:sp>
      </p:grpSp>
      <p:sp>
        <p:nvSpPr>
          <p:cNvPr id="16" name="TextBox 16"/>
          <p:cNvSpPr txBox="1"/>
          <p:nvPr/>
        </p:nvSpPr>
        <p:spPr>
          <a:xfrm>
            <a:off x="3620881" y="2073472"/>
            <a:ext cx="13710458" cy="6894195"/>
          </a:xfrm>
          <a:prstGeom prst="rect">
            <a:avLst/>
          </a:prstGeom>
        </p:spPr>
        <p:txBody>
          <a:bodyPr lIns="0" tIns="0" rIns="0" bIns="0" rtlCol="0" anchor="t">
            <a:spAutoFit/>
          </a:bodyPr>
          <a:lstStyle/>
          <a:p>
            <a:pPr marL="457200" indent="-457200">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rPr>
              <a:t>CarbonLens</a:t>
            </a:r>
            <a:r>
              <a:rPr lang="en-US" sz="3200" dirty="0">
                <a:latin typeface="Times New Roman" panose="02020603050405020304" pitchFamily="18" charset="0"/>
                <a:cs typeface="Times New Roman" panose="02020603050405020304" pitchFamily="18" charset="0"/>
              </a:rPr>
              <a:t> provides a user-friendly platform where users can record their daily activities related to transportation, energy usage, diet, and other lifestyle choices.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system automatically estimates the carbon emissions generated from these activities and categorizes them into different emission sources for better understanding.</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An AI-powered assistant analyzes user inputs and generates personalized sustainability tips and recommendations to help reduce carbon footprints.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Interactive dashboards and visualizations display real-time metrics, weekly trends, carbon scores, and category-wise emission breakdowns.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Weekly and monthly reports allow users to monitor their progress, identify improvement areas, and track changes in their emission patterns over time.</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By combining artificial intelligence, data analytics, and an intuitive interface, </a:t>
            </a:r>
            <a:r>
              <a:rPr lang="en-US" sz="3200" dirty="0" err="1">
                <a:latin typeface="Times New Roman" panose="02020603050405020304" pitchFamily="18" charset="0"/>
                <a:cs typeface="Times New Roman" panose="02020603050405020304" pitchFamily="18" charset="0"/>
              </a:rPr>
              <a:t>CarbonLens</a:t>
            </a:r>
            <a:r>
              <a:rPr lang="en-US" sz="3200" dirty="0">
                <a:latin typeface="Times New Roman" panose="02020603050405020304" pitchFamily="18" charset="0"/>
                <a:cs typeface="Times New Roman" panose="02020603050405020304" pitchFamily="18" charset="0"/>
              </a:rPr>
              <a:t> encourages users to adopt environmentally responsible habits and contribute towards a more sustainable future.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sp>
        <p:nvSpPr>
          <p:cNvPr id="12" name="TextBox 12"/>
          <p:cNvSpPr txBox="1"/>
          <p:nvPr/>
        </p:nvSpPr>
        <p:spPr>
          <a:xfrm>
            <a:off x="3675297" y="1282688"/>
            <a:ext cx="13490400" cy="1868195"/>
          </a:xfrm>
          <a:prstGeom prst="rect">
            <a:avLst/>
          </a:prstGeom>
        </p:spPr>
        <p:txBody>
          <a:bodyPr lIns="0" tIns="0" rIns="0" bIns="0" rtlCol="0" anchor="t">
            <a:spAutoFit/>
          </a:bodyPr>
          <a:lstStyle/>
          <a:p>
            <a:pPr algn="l">
              <a:lnSpc>
                <a:spcPts val="7200"/>
              </a:lnSpc>
            </a:pPr>
            <a:r>
              <a:rPr lang="en-US" sz="6000">
                <a:solidFill>
                  <a:srgbClr val="262626"/>
                </a:solidFill>
                <a:latin typeface="Times New Roman"/>
                <a:ea typeface="Times New Roman"/>
                <a:cs typeface="Times New Roman"/>
                <a:sym typeface="Times New Roman"/>
              </a:rPr>
              <a:t>5. Objectives</a:t>
            </a:r>
          </a:p>
        </p:txBody>
      </p:sp>
      <p:grpSp>
        <p:nvGrpSpPr>
          <p:cNvPr id="13" name="Group 13"/>
          <p:cNvGrpSpPr/>
          <p:nvPr/>
        </p:nvGrpSpPr>
        <p:grpSpPr>
          <a:xfrm>
            <a:off x="16833047" y="9507236"/>
            <a:ext cx="1169651" cy="547688"/>
            <a:chOff x="0" y="0"/>
            <a:chExt cx="1559535" cy="730250"/>
          </a:xfrm>
        </p:grpSpPr>
        <p:sp>
          <p:nvSpPr>
            <p:cNvPr id="14" name="Freeform 14"/>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5" name="TextBox 15"/>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7</a:t>
              </a:r>
            </a:p>
          </p:txBody>
        </p:sp>
      </p:grpSp>
      <p:sp>
        <p:nvSpPr>
          <p:cNvPr id="16" name="TextBox 16"/>
          <p:cNvSpPr txBox="1"/>
          <p:nvPr/>
        </p:nvSpPr>
        <p:spPr>
          <a:xfrm>
            <a:off x="3675297" y="2452783"/>
            <a:ext cx="12261447" cy="6801862"/>
          </a:xfrm>
          <a:prstGeom prst="rect">
            <a:avLst/>
          </a:prstGeom>
        </p:spPr>
        <p:txBody>
          <a:bodyPr lIns="0" tIns="0" rIns="0" bIns="0" rtlCol="0" anchor="t">
            <a:spAutoFit/>
          </a:bodyPr>
          <a:lstStyle/>
          <a:p>
            <a:pPr marL="457200" indent="-4572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To develop an AI-powered platform for tracking and monitoring personal carbon emissions.</a:t>
            </a:r>
          </a:p>
          <a:p>
            <a:pPr marL="457200" indent="-4572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To calculate and categorize carbon emissions generated from daily activities such as transportation, energy consumption, and diet.</a:t>
            </a:r>
          </a:p>
          <a:p>
            <a:pPr marL="457200" indent="-4572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To provide personalized sustainability tips and recommendations using artificial intelligence.</a:t>
            </a:r>
          </a:p>
          <a:p>
            <a:pPr marL="457200" indent="-4572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To visualize emission data through interactive dashboards, charts, and carbon scores for better understanding.</a:t>
            </a:r>
          </a:p>
          <a:p>
            <a:pPr marL="457200" indent="-4572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To generate weekly and monthly reports that help users analyze their progress and identify areas for improvement.</a:t>
            </a:r>
          </a:p>
          <a:p>
            <a:pPr marL="457200" indent="-4572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To encourage individuals to adopt environmentally responsible habits and contribute towards a greener and more sustainable future.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grpSp>
        <p:nvGrpSpPr>
          <p:cNvPr id="12" name="Group 12"/>
          <p:cNvGrpSpPr/>
          <p:nvPr/>
        </p:nvGrpSpPr>
        <p:grpSpPr>
          <a:xfrm>
            <a:off x="16833047" y="9507236"/>
            <a:ext cx="1169651" cy="547688"/>
            <a:chOff x="0" y="0"/>
            <a:chExt cx="1559535" cy="730250"/>
          </a:xfrm>
        </p:grpSpPr>
        <p:sp>
          <p:nvSpPr>
            <p:cNvPr id="13" name="Freeform 13"/>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4" name="TextBox 14"/>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8</a:t>
              </a:r>
            </a:p>
          </p:txBody>
        </p:sp>
      </p:grpSp>
      <p:sp>
        <p:nvSpPr>
          <p:cNvPr id="17" name="TextBox 17"/>
          <p:cNvSpPr txBox="1"/>
          <p:nvPr/>
        </p:nvSpPr>
        <p:spPr>
          <a:xfrm>
            <a:off x="3926665" y="547240"/>
            <a:ext cx="13184676" cy="1868033"/>
          </a:xfrm>
          <a:prstGeom prst="rect">
            <a:avLst/>
          </a:prstGeom>
        </p:spPr>
        <p:txBody>
          <a:bodyPr lIns="0" tIns="0" rIns="0" bIns="0" rtlCol="0" anchor="t">
            <a:spAutoFit/>
          </a:bodyPr>
          <a:lstStyle/>
          <a:p>
            <a:pPr algn="l">
              <a:lnSpc>
                <a:spcPts val="7200"/>
              </a:lnSpc>
            </a:pPr>
            <a:r>
              <a:rPr lang="en-US" sz="6000" dirty="0">
                <a:solidFill>
                  <a:srgbClr val="262626"/>
                </a:solidFill>
                <a:latin typeface="Times New Roman"/>
                <a:ea typeface="Times New Roman"/>
                <a:cs typeface="Times New Roman"/>
                <a:sym typeface="Times New Roman"/>
              </a:rPr>
              <a:t>6. Theoretical Analysis</a:t>
            </a:r>
          </a:p>
        </p:txBody>
      </p:sp>
      <p:sp>
        <p:nvSpPr>
          <p:cNvPr id="18" name="TextBox 18"/>
          <p:cNvSpPr txBox="1"/>
          <p:nvPr/>
        </p:nvSpPr>
        <p:spPr>
          <a:xfrm>
            <a:off x="3964765" y="1638687"/>
            <a:ext cx="10218896" cy="676875"/>
          </a:xfrm>
          <a:prstGeom prst="rect">
            <a:avLst/>
          </a:prstGeom>
        </p:spPr>
        <p:txBody>
          <a:bodyPr lIns="0" tIns="0" rIns="0" bIns="0" rtlCol="0" anchor="t">
            <a:spAutoFit/>
          </a:bodyPr>
          <a:lstStyle/>
          <a:p>
            <a:pPr algn="l">
              <a:lnSpc>
                <a:spcPts val="4320"/>
              </a:lnSpc>
            </a:pPr>
            <a:r>
              <a:rPr lang="en-US" sz="3600" b="1" dirty="0">
                <a:solidFill>
                  <a:srgbClr val="000000"/>
                </a:solidFill>
                <a:latin typeface="Times New Roman Bold"/>
                <a:ea typeface="Times New Roman Bold"/>
                <a:cs typeface="Times New Roman Bold"/>
                <a:sym typeface="Times New Roman Bold"/>
              </a:rPr>
              <a:t>6.1 Block Diagram</a:t>
            </a:r>
          </a:p>
        </p:txBody>
      </p:sp>
      <p:sp>
        <p:nvSpPr>
          <p:cNvPr id="19" name="TextBox 19"/>
          <p:cNvSpPr txBox="1"/>
          <p:nvPr/>
        </p:nvSpPr>
        <p:spPr>
          <a:xfrm>
            <a:off x="6773614" y="9239250"/>
            <a:ext cx="6611243" cy="323850"/>
          </a:xfrm>
          <a:prstGeom prst="rect">
            <a:avLst/>
          </a:prstGeom>
        </p:spPr>
        <p:txBody>
          <a:bodyPr lIns="0" tIns="0" rIns="0" bIns="0" rtlCol="0" anchor="t">
            <a:spAutoFit/>
          </a:bodyPr>
          <a:lstStyle/>
          <a:p>
            <a:pPr algn="ctr">
              <a:lnSpc>
                <a:spcPts val="2400"/>
              </a:lnSpc>
              <a:spcBef>
                <a:spcPct val="0"/>
              </a:spcBef>
            </a:pPr>
            <a:r>
              <a:rPr lang="en-US" sz="2000">
                <a:solidFill>
                  <a:srgbClr val="000000"/>
                </a:solidFill>
                <a:latin typeface="Times New Roman"/>
                <a:ea typeface="Times New Roman"/>
                <a:cs typeface="Times New Roman"/>
                <a:sym typeface="Times New Roman"/>
              </a:rPr>
              <a:t>fig. 1. Architecture of AI Mock Interview with Streaming Avatar </a:t>
            </a:r>
          </a:p>
        </p:txBody>
      </p:sp>
      <p:pic>
        <p:nvPicPr>
          <p:cNvPr id="25" name="Picture 24">
            <a:extLst>
              <a:ext uri="{FF2B5EF4-FFF2-40B4-BE49-F238E27FC236}">
                <a16:creationId xmlns:a16="http://schemas.microsoft.com/office/drawing/2014/main" id="{0B22F4C7-449D-8382-FCE6-8256011BD422}"/>
              </a:ext>
            </a:extLst>
          </p:cNvPr>
          <p:cNvPicPr>
            <a:picLocks noChangeAspect="1"/>
          </p:cNvPicPr>
          <p:nvPr/>
        </p:nvPicPr>
        <p:blipFill>
          <a:blip r:embed="rId10"/>
          <a:stretch>
            <a:fillRect/>
          </a:stretch>
        </p:blipFill>
        <p:spPr>
          <a:xfrm>
            <a:off x="2946890" y="2325064"/>
            <a:ext cx="13682340" cy="72380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06013" y="-499977"/>
            <a:ext cx="3535013" cy="10281056"/>
          </a:xfrm>
          <a:custGeom>
            <a:avLst/>
            <a:gdLst/>
            <a:ahLst/>
            <a:cxnLst/>
            <a:rect l="l" t="t" r="r" b="b"/>
            <a:pathLst>
              <a:path w="3535013" h="10281056">
                <a:moveTo>
                  <a:pt x="0" y="0"/>
                </a:moveTo>
                <a:lnTo>
                  <a:pt x="3535013" y="0"/>
                </a:lnTo>
                <a:lnTo>
                  <a:pt x="3535013" y="10281057"/>
                </a:lnTo>
                <a:lnTo>
                  <a:pt x="0" y="102810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sp>
        <p:nvSpPr>
          <p:cNvPr id="12" name="TextBox 12"/>
          <p:cNvSpPr txBox="1"/>
          <p:nvPr/>
        </p:nvSpPr>
        <p:spPr>
          <a:xfrm>
            <a:off x="3391281" y="394116"/>
            <a:ext cx="13184848" cy="1470403"/>
          </a:xfrm>
          <a:prstGeom prst="rect">
            <a:avLst/>
          </a:prstGeom>
        </p:spPr>
        <p:txBody>
          <a:bodyPr lIns="0" tIns="0" rIns="0" bIns="0" rtlCol="0" anchor="t">
            <a:spAutoFit/>
          </a:bodyPr>
          <a:lstStyle/>
          <a:p>
            <a:pPr algn="l">
              <a:lnSpc>
                <a:spcPts val="7200"/>
              </a:lnSpc>
            </a:pPr>
            <a:r>
              <a:rPr lang="en-US" sz="6000">
                <a:solidFill>
                  <a:srgbClr val="262626"/>
                </a:solidFill>
                <a:latin typeface="Times New Roman"/>
                <a:ea typeface="Times New Roman"/>
                <a:cs typeface="Times New Roman"/>
                <a:sym typeface="Times New Roman"/>
              </a:rPr>
              <a:t>6. Theoretical Analysis</a:t>
            </a:r>
          </a:p>
        </p:txBody>
      </p:sp>
      <p:sp>
        <p:nvSpPr>
          <p:cNvPr id="13" name="TextBox 13"/>
          <p:cNvSpPr txBox="1"/>
          <p:nvPr/>
        </p:nvSpPr>
        <p:spPr>
          <a:xfrm>
            <a:off x="3535013" y="1612798"/>
            <a:ext cx="13724286" cy="3429144"/>
          </a:xfrm>
          <a:prstGeom prst="rect">
            <a:avLst/>
          </a:prstGeom>
        </p:spPr>
        <p:txBody>
          <a:bodyPr wrap="square" lIns="0" tIns="0" rIns="0" bIns="0" rtlCol="0" anchor="t">
            <a:spAutoFit/>
          </a:bodyPr>
          <a:lstStyle/>
          <a:p>
            <a:pPr algn="l">
              <a:lnSpc>
                <a:spcPts val="2656"/>
              </a:lnSpc>
            </a:pPr>
            <a:r>
              <a:rPr lang="en-US" sz="2767" b="1" dirty="0">
                <a:solidFill>
                  <a:srgbClr val="3F3F3F"/>
                </a:solidFill>
                <a:latin typeface="Times New Roman Bold"/>
                <a:ea typeface="Times New Roman Bold"/>
                <a:cs typeface="Times New Roman Bold"/>
                <a:sym typeface="Times New Roman Bold"/>
              </a:rPr>
              <a:t>6.2 Hardware Requirements:</a:t>
            </a:r>
          </a:p>
          <a:p>
            <a:pPr algn="l">
              <a:lnSpc>
                <a:spcPts val="2656"/>
              </a:lnSpc>
            </a:pPr>
            <a:endParaRPr lang="en-US" sz="2767" b="1" dirty="0">
              <a:solidFill>
                <a:srgbClr val="3F3F3F"/>
              </a:solidFill>
              <a:latin typeface="Times New Roman Bold"/>
              <a:ea typeface="Times New Roman Bold"/>
              <a:cs typeface="Times New Roman Bold"/>
              <a:sym typeface="Times New Roman Bold"/>
            </a:endParaRPr>
          </a:p>
          <a:p>
            <a:pPr algn="l">
              <a:lnSpc>
                <a:spcPts val="2584"/>
              </a:lnSpc>
            </a:pPr>
            <a:r>
              <a:rPr lang="en-US" sz="2692" dirty="0">
                <a:solidFill>
                  <a:srgbClr val="000000"/>
                </a:solidFill>
                <a:latin typeface="Times New Roman"/>
                <a:ea typeface="Times New Roman"/>
                <a:cs typeface="Times New Roman"/>
                <a:sym typeface="Times New Roman"/>
              </a:rPr>
              <a:t>Since this is a software-focused project, hardware needs are minimal:</a:t>
            </a:r>
          </a:p>
          <a:p>
            <a:pPr marL="457200" indent="-457200">
              <a:buFont typeface="Arial" panose="020B0604020202020204" pitchFamily="34" charset="0"/>
              <a:buChar char="•"/>
            </a:pPr>
            <a:r>
              <a:rPr lang="en-US" sz="2692" dirty="0">
                <a:solidFill>
                  <a:srgbClr val="000000"/>
                </a:solidFill>
                <a:latin typeface="Times New Roman"/>
                <a:ea typeface="Times New Roman"/>
                <a:cs typeface="Times New Roman"/>
                <a:sym typeface="Times New Roman"/>
              </a:rPr>
              <a:t> </a:t>
            </a:r>
            <a:r>
              <a:rPr lang="en-IN" sz="2690" dirty="0">
                <a:latin typeface="Times New Roman" panose="02020603050405020304" pitchFamily="18" charset="0"/>
                <a:cs typeface="Times New Roman" panose="02020603050405020304" pitchFamily="18" charset="0"/>
              </a:rPr>
              <a:t>Processor: Intel Core i3/i5 or equivalent multi-core processor.</a:t>
            </a:r>
          </a:p>
          <a:p>
            <a:pPr marL="457200" indent="-457200">
              <a:buFont typeface="Arial" panose="020B0604020202020204" pitchFamily="34" charset="0"/>
              <a:buChar char="•"/>
            </a:pPr>
            <a:r>
              <a:rPr lang="en-IN" sz="2690" dirty="0">
                <a:latin typeface="Times New Roman" panose="02020603050405020304" pitchFamily="18" charset="0"/>
                <a:cs typeface="Times New Roman" panose="02020603050405020304" pitchFamily="18" charset="0"/>
              </a:rPr>
              <a:t>RAM &amp; Storage: Minimum 8 GB RAM with 256 GB HDD/SSD.</a:t>
            </a:r>
          </a:p>
          <a:p>
            <a:pPr marL="457200" indent="-457200">
              <a:buFont typeface="Arial" panose="020B0604020202020204" pitchFamily="34" charset="0"/>
              <a:buChar char="•"/>
            </a:pPr>
            <a:r>
              <a:rPr lang="en-IN" sz="2690" dirty="0">
                <a:latin typeface="Times New Roman" panose="02020603050405020304" pitchFamily="18" charset="0"/>
                <a:cs typeface="Times New Roman" panose="02020603050405020304" pitchFamily="18" charset="0"/>
              </a:rPr>
              <a:t>Internet Connectivity: Stable internet connection for accessing the application and </a:t>
            </a:r>
            <a:r>
              <a:rPr lang="en-IN" sz="2690" dirty="0" err="1">
                <a:latin typeface="Times New Roman" panose="02020603050405020304" pitchFamily="18" charset="0"/>
                <a:cs typeface="Times New Roman" panose="02020603050405020304" pitchFamily="18" charset="0"/>
              </a:rPr>
              <a:t>Ollama</a:t>
            </a:r>
            <a:r>
              <a:rPr lang="en-IN" sz="2690" dirty="0">
                <a:latin typeface="Times New Roman" panose="02020603050405020304" pitchFamily="18" charset="0"/>
                <a:cs typeface="Times New Roman" panose="02020603050405020304" pitchFamily="18" charset="0"/>
              </a:rPr>
              <a:t> AI services.</a:t>
            </a:r>
          </a:p>
          <a:p>
            <a:pPr algn="l">
              <a:lnSpc>
                <a:spcPts val="2584"/>
              </a:lnSpc>
            </a:pPr>
            <a:endParaRPr lang="en-US" sz="2692" dirty="0">
              <a:solidFill>
                <a:srgbClr val="000000"/>
              </a:solidFill>
              <a:latin typeface="Times New Roman"/>
              <a:ea typeface="Times New Roman"/>
              <a:cs typeface="Times New Roman"/>
              <a:sym typeface="Times New Roman"/>
            </a:endParaRPr>
          </a:p>
          <a:p>
            <a:pPr algn="l">
              <a:lnSpc>
                <a:spcPts val="2728"/>
              </a:lnSpc>
            </a:pPr>
            <a:r>
              <a:rPr lang="en-US" sz="2842" b="1" dirty="0">
                <a:solidFill>
                  <a:srgbClr val="3F3F3F"/>
                </a:solidFill>
                <a:latin typeface="Times New Roman Bold"/>
                <a:ea typeface="Times New Roman Bold"/>
                <a:cs typeface="Times New Roman Bold"/>
                <a:sym typeface="Times New Roman Bold"/>
              </a:rPr>
              <a:t>6.3 Software Requirements</a:t>
            </a:r>
          </a:p>
        </p:txBody>
      </p:sp>
      <p:grpSp>
        <p:nvGrpSpPr>
          <p:cNvPr id="14" name="Group 14"/>
          <p:cNvGrpSpPr/>
          <p:nvPr/>
        </p:nvGrpSpPr>
        <p:grpSpPr>
          <a:xfrm>
            <a:off x="16833047" y="9507236"/>
            <a:ext cx="1169651" cy="547688"/>
            <a:chOff x="0" y="0"/>
            <a:chExt cx="1559535" cy="730250"/>
          </a:xfrm>
        </p:grpSpPr>
        <p:sp>
          <p:nvSpPr>
            <p:cNvPr id="15" name="Freeform 15"/>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6" name="TextBox 16"/>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9</a:t>
              </a:r>
            </a:p>
          </p:txBody>
        </p:sp>
      </p:grpSp>
      <p:graphicFrame>
        <p:nvGraphicFramePr>
          <p:cNvPr id="17" name="Table 17"/>
          <p:cNvGraphicFramePr>
            <a:graphicFrameLocks noGrp="1"/>
          </p:cNvGraphicFramePr>
          <p:nvPr>
            <p:extLst>
              <p:ext uri="{D42A27DB-BD31-4B8C-83A1-F6EECF244321}">
                <p14:modId xmlns:p14="http://schemas.microsoft.com/office/powerpoint/2010/main" val="1549556491"/>
              </p:ext>
            </p:extLst>
          </p:nvPr>
        </p:nvGraphicFramePr>
        <p:xfrm>
          <a:off x="3502856" y="4923435"/>
          <a:ext cx="12230100" cy="5208299"/>
        </p:xfrm>
        <a:graphic>
          <a:graphicData uri="http://schemas.openxmlformats.org/drawingml/2006/table">
            <a:tbl>
              <a:tblPr/>
              <a:tblGrid>
                <a:gridCol w="3911476">
                  <a:extLst>
                    <a:ext uri="{9D8B030D-6E8A-4147-A177-3AD203B41FA5}">
                      <a16:colId xmlns:a16="http://schemas.microsoft.com/office/drawing/2014/main" val="20000"/>
                    </a:ext>
                  </a:extLst>
                </a:gridCol>
                <a:gridCol w="8318624">
                  <a:extLst>
                    <a:ext uri="{9D8B030D-6E8A-4147-A177-3AD203B41FA5}">
                      <a16:colId xmlns:a16="http://schemas.microsoft.com/office/drawing/2014/main" val="20001"/>
                    </a:ext>
                  </a:extLst>
                </a:gridCol>
              </a:tblGrid>
              <a:tr h="800832">
                <a:tc>
                  <a:txBody>
                    <a:bodyPr/>
                    <a:lstStyle/>
                    <a:p>
                      <a:r>
                        <a:rPr lang="en-IN" sz="2400" b="1">
                          <a:latin typeface="Times New Roman" panose="02020603050405020304" pitchFamily="18" charset="0"/>
                          <a:cs typeface="Times New Roman" panose="02020603050405020304" pitchFamily="18" charset="0"/>
                        </a:rPr>
                        <a:t>Component</a:t>
                      </a:r>
                      <a:endParaRPr lang="en-IN" sz="2400">
                        <a:latin typeface="Times New Roman" panose="02020603050405020304" pitchFamily="18" charset="0"/>
                        <a:cs typeface="Times New Roman" panose="02020603050405020304" pitchFamily="18" charset="0"/>
                      </a:endParaRP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400" b="1">
                          <a:latin typeface="Times New Roman" panose="02020603050405020304" pitchFamily="18" charset="0"/>
                          <a:cs typeface="Times New Roman" panose="02020603050405020304" pitchFamily="18" charset="0"/>
                        </a:rPr>
                        <a:t>Technology Used</a:t>
                      </a:r>
                      <a:endParaRPr lang="en-IN" sz="2400">
                        <a:latin typeface="Times New Roman" panose="02020603050405020304" pitchFamily="18" charset="0"/>
                        <a:cs typeface="Times New Roman" panose="02020603050405020304" pitchFamily="18" charset="0"/>
                      </a:endParaRP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67360">
                <a:tc>
                  <a:txBody>
                    <a:bodyPr/>
                    <a:lstStyle/>
                    <a:p>
                      <a:r>
                        <a:rPr lang="en-IN" sz="2400">
                          <a:latin typeface="Times New Roman" panose="02020603050405020304" pitchFamily="18" charset="0"/>
                          <a:cs typeface="Times New Roman" panose="02020603050405020304" pitchFamily="18" charset="0"/>
                        </a:rPr>
                        <a:t>Programming Language</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400">
                          <a:latin typeface="Times New Roman" panose="02020603050405020304" pitchFamily="18" charset="0"/>
                          <a:cs typeface="Times New Roman" panose="02020603050405020304" pitchFamily="18" charset="0"/>
                        </a:rPr>
                        <a:t>JavaScript</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1035">
                <a:tc>
                  <a:txBody>
                    <a:bodyPr/>
                    <a:lstStyle/>
                    <a:p>
                      <a:r>
                        <a:rPr lang="en-IN" sz="2400">
                          <a:latin typeface="Times New Roman" panose="02020603050405020304" pitchFamily="18" charset="0"/>
                          <a:cs typeface="Times New Roman" panose="02020603050405020304" pitchFamily="18" charset="0"/>
                        </a:rPr>
                        <a:t>Frontend</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US" sz="2400">
                          <a:latin typeface="Times New Roman" panose="02020603050405020304" pitchFamily="18" charset="0"/>
                          <a:cs typeface="Times New Roman" panose="02020603050405020304" pitchFamily="18" charset="0"/>
                        </a:rPr>
                        <a:t>React 18, Vite, Tailwind CSS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67360">
                <a:tc>
                  <a:txBody>
                    <a:bodyPr/>
                    <a:lstStyle/>
                    <a:p>
                      <a:r>
                        <a:rPr lang="en-IN" sz="2400">
                          <a:latin typeface="Times New Roman" panose="02020603050405020304" pitchFamily="18" charset="0"/>
                          <a:cs typeface="Times New Roman" panose="02020603050405020304" pitchFamily="18" charset="0"/>
                        </a:rPr>
                        <a:t>Backend</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US" sz="2400">
                          <a:latin typeface="Times New Roman" panose="02020603050405020304" pitchFamily="18" charset="0"/>
                          <a:cs typeface="Times New Roman" panose="02020603050405020304" pitchFamily="18" charset="0"/>
                        </a:rPr>
                        <a:t>Node.js and Express.js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81035">
                <a:tc>
                  <a:txBody>
                    <a:bodyPr/>
                    <a:lstStyle/>
                    <a:p>
                      <a:r>
                        <a:rPr lang="en-IN" sz="2400">
                          <a:latin typeface="Times New Roman" panose="02020603050405020304" pitchFamily="18" charset="0"/>
                          <a:cs typeface="Times New Roman" panose="02020603050405020304" pitchFamily="18" charset="0"/>
                        </a:rPr>
                        <a:t>Database</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400">
                          <a:latin typeface="Times New Roman" panose="02020603050405020304" pitchFamily="18" charset="0"/>
                          <a:cs typeface="Times New Roman" panose="02020603050405020304" pitchFamily="18" charset="0"/>
                        </a:rPr>
                        <a:t>MongoDB with Mongoose</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81035">
                <a:tc>
                  <a:txBody>
                    <a:bodyPr/>
                    <a:lstStyle/>
                    <a:p>
                      <a:r>
                        <a:rPr lang="en-IN" sz="2400">
                          <a:latin typeface="Times New Roman" panose="02020603050405020304" pitchFamily="18" charset="0"/>
                          <a:cs typeface="Times New Roman" panose="02020603050405020304" pitchFamily="18" charset="0"/>
                        </a:rPr>
                        <a:t>AI Integration</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IN" sz="2400">
                          <a:latin typeface="Times New Roman" panose="02020603050405020304" pitchFamily="18" charset="0"/>
                          <a:cs typeface="Times New Roman" panose="02020603050405020304" pitchFamily="18" charset="0"/>
                        </a:rPr>
                        <a:t>Ollama (Llama2/Mistral)</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029642">
                <a:tc>
                  <a:txBody>
                    <a:bodyPr/>
                    <a:lstStyle/>
                    <a:p>
                      <a:r>
                        <a:rPr lang="en-IN" sz="2400">
                          <a:latin typeface="Times New Roman" panose="02020603050405020304" pitchFamily="18" charset="0"/>
                          <a:cs typeface="Times New Roman" panose="02020603050405020304" pitchFamily="18" charset="0"/>
                        </a:rPr>
                        <a:t>Development Tools</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r>
                        <a:rPr lang="en-US" sz="2400" dirty="0">
                          <a:latin typeface="Times New Roman" panose="02020603050405020304" pitchFamily="18" charset="0"/>
                          <a:cs typeface="Times New Roman" panose="02020603050405020304" pitchFamily="18" charset="0"/>
                        </a:rPr>
                        <a:t>VS Code, Git, and GitHub</a:t>
                      </a:r>
                    </a:p>
                  </a:txBody>
                  <a:tcPr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sp>
        <p:nvSpPr>
          <p:cNvPr id="12" name="TextBox 12"/>
          <p:cNvSpPr txBox="1"/>
          <p:nvPr/>
        </p:nvSpPr>
        <p:spPr>
          <a:xfrm>
            <a:off x="3575847" y="912019"/>
            <a:ext cx="13184676" cy="952500"/>
          </a:xfrm>
          <a:prstGeom prst="rect">
            <a:avLst/>
          </a:prstGeom>
        </p:spPr>
        <p:txBody>
          <a:bodyPr lIns="0" tIns="0" rIns="0" bIns="0" rtlCol="0" anchor="t">
            <a:spAutoFit/>
          </a:bodyPr>
          <a:lstStyle/>
          <a:p>
            <a:pPr marL="1295400" lvl="1" indent="-647700" algn="l">
              <a:lnSpc>
                <a:spcPts val="7200"/>
              </a:lnSpc>
              <a:buAutoNum type="arabicPeriod"/>
            </a:pPr>
            <a:r>
              <a:rPr lang="en-US" sz="6000" dirty="0">
                <a:solidFill>
                  <a:srgbClr val="262626"/>
                </a:solidFill>
                <a:latin typeface="Times New Roman"/>
                <a:ea typeface="Times New Roman"/>
                <a:cs typeface="Times New Roman"/>
                <a:sym typeface="Times New Roman"/>
              </a:rPr>
              <a:t>Applications</a:t>
            </a:r>
          </a:p>
        </p:txBody>
      </p:sp>
      <p:sp>
        <p:nvSpPr>
          <p:cNvPr id="13" name="TextBox 13"/>
          <p:cNvSpPr txBox="1"/>
          <p:nvPr/>
        </p:nvSpPr>
        <p:spPr>
          <a:xfrm>
            <a:off x="4277278" y="2188369"/>
            <a:ext cx="12858150" cy="5945124"/>
          </a:xfrm>
          <a:prstGeom prst="rect">
            <a:avLst/>
          </a:prstGeom>
        </p:spPr>
        <p:txBody>
          <a:bodyPr lIns="0" tIns="0" rIns="0" bIns="0" rtlCol="0" anchor="t">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Personal Carbon Footprint Tracking: Helps individuals monitor and manage their daily carbon emissions.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Sustainability Awareness: Encourages users to adopt eco-friendly habits through AI-generated recommendations.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Educational Institutions: Can be used to educate students about climate change and environmental responsibility.</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Corporate Sustainability Programs: Assists organizations in promoting sustainable practices among employees.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Environmental Research: Provides emission data and trends useful for analysis and decision-making.</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Progress Monitoring: Enables users to track improvements in their carbon footprint over time through reports and dashboards.</a:t>
            </a:r>
          </a:p>
        </p:txBody>
      </p:sp>
      <p:grpSp>
        <p:nvGrpSpPr>
          <p:cNvPr id="14" name="Group 14"/>
          <p:cNvGrpSpPr/>
          <p:nvPr/>
        </p:nvGrpSpPr>
        <p:grpSpPr>
          <a:xfrm>
            <a:off x="16833047" y="9507236"/>
            <a:ext cx="1169651" cy="547688"/>
            <a:chOff x="0" y="0"/>
            <a:chExt cx="1559535" cy="730250"/>
          </a:xfrm>
        </p:grpSpPr>
        <p:sp>
          <p:nvSpPr>
            <p:cNvPr id="15" name="Freeform 15"/>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6" name="TextBox 16"/>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10</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sp>
        <p:nvSpPr>
          <p:cNvPr id="12" name="TextBox 12"/>
          <p:cNvSpPr txBox="1"/>
          <p:nvPr/>
        </p:nvSpPr>
        <p:spPr>
          <a:xfrm>
            <a:off x="3980812" y="943766"/>
            <a:ext cx="13184676" cy="1868033"/>
          </a:xfrm>
          <a:prstGeom prst="rect">
            <a:avLst/>
          </a:prstGeom>
        </p:spPr>
        <p:txBody>
          <a:bodyPr lIns="0" tIns="0" rIns="0" bIns="0" rtlCol="0" anchor="t">
            <a:spAutoFit/>
          </a:bodyPr>
          <a:lstStyle/>
          <a:p>
            <a:pPr algn="l">
              <a:lnSpc>
                <a:spcPts val="7200"/>
              </a:lnSpc>
            </a:pPr>
            <a:r>
              <a:rPr lang="en-US" sz="6000">
                <a:solidFill>
                  <a:srgbClr val="262626"/>
                </a:solidFill>
                <a:latin typeface="Times New Roman"/>
                <a:ea typeface="Times New Roman"/>
                <a:cs typeface="Times New Roman"/>
                <a:sym typeface="Times New Roman"/>
              </a:rPr>
              <a:t>GitHub Link</a:t>
            </a:r>
          </a:p>
        </p:txBody>
      </p:sp>
      <p:sp>
        <p:nvSpPr>
          <p:cNvPr id="13" name="TextBox 13"/>
          <p:cNvSpPr txBox="1"/>
          <p:nvPr/>
        </p:nvSpPr>
        <p:spPr>
          <a:xfrm>
            <a:off x="3390409" y="2783224"/>
            <a:ext cx="14027458" cy="551433"/>
          </a:xfrm>
          <a:prstGeom prst="rect">
            <a:avLst/>
          </a:prstGeom>
        </p:spPr>
        <p:txBody>
          <a:bodyPr lIns="0" tIns="0" rIns="0" bIns="0" rtlCol="0" anchor="t">
            <a:spAutoFit/>
          </a:bodyPr>
          <a:lstStyle/>
          <a:p>
            <a:pPr algn="l">
              <a:lnSpc>
                <a:spcPts val="4320"/>
              </a:lnSpc>
            </a:pPr>
            <a:r>
              <a:rPr lang="en-US" sz="3600" u="sng" dirty="0">
                <a:solidFill>
                  <a:srgbClr val="FB4A18"/>
                </a:solidFill>
                <a:latin typeface="Times New Roman"/>
                <a:ea typeface="Times New Roman"/>
                <a:cs typeface="Times New Roman"/>
                <a:sym typeface="Times New Roman"/>
                <a:hlinkClick r:id="rId9" tooltip="https://github.com/Yuvi25Jain/AI-Mock-Interview-with-Streaming-Avatar"/>
              </a:rPr>
              <a:t> https://github.com/Sejaljain208/Carbon-footprint-tracker</a:t>
            </a:r>
          </a:p>
        </p:txBody>
      </p:sp>
      <p:grpSp>
        <p:nvGrpSpPr>
          <p:cNvPr id="14" name="Group 14"/>
          <p:cNvGrpSpPr/>
          <p:nvPr/>
        </p:nvGrpSpPr>
        <p:grpSpPr>
          <a:xfrm>
            <a:off x="16833047" y="9507236"/>
            <a:ext cx="1169651" cy="547688"/>
            <a:chOff x="0" y="0"/>
            <a:chExt cx="1559535" cy="730250"/>
          </a:xfrm>
        </p:grpSpPr>
        <p:sp>
          <p:nvSpPr>
            <p:cNvPr id="15" name="Freeform 15"/>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10">
                <a:alphaModFix amt="0"/>
              </a:blip>
              <a:stretch>
                <a:fillRect l="-10077" r="-10078"/>
              </a:stretch>
            </a:blipFill>
          </p:spPr>
        </p:sp>
        <p:sp>
          <p:nvSpPr>
            <p:cNvPr id="16" name="TextBox 16"/>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11</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sp>
        <p:nvSpPr>
          <p:cNvPr id="12" name="TextBox 12"/>
          <p:cNvSpPr txBox="1"/>
          <p:nvPr/>
        </p:nvSpPr>
        <p:spPr>
          <a:xfrm>
            <a:off x="3980812" y="943766"/>
            <a:ext cx="13184676" cy="1868033"/>
          </a:xfrm>
          <a:prstGeom prst="rect">
            <a:avLst/>
          </a:prstGeom>
        </p:spPr>
        <p:txBody>
          <a:bodyPr lIns="0" tIns="0" rIns="0" bIns="0" rtlCol="0" anchor="t">
            <a:spAutoFit/>
          </a:bodyPr>
          <a:lstStyle/>
          <a:p>
            <a:pPr algn="l">
              <a:lnSpc>
                <a:spcPts val="7200"/>
              </a:lnSpc>
            </a:pPr>
            <a:r>
              <a:rPr lang="en-US" sz="6000">
                <a:solidFill>
                  <a:srgbClr val="262626"/>
                </a:solidFill>
                <a:latin typeface="Times New Roman"/>
                <a:ea typeface="Times New Roman"/>
                <a:cs typeface="Times New Roman"/>
                <a:sym typeface="Times New Roman"/>
              </a:rPr>
              <a:t>REFERENCES</a:t>
            </a:r>
          </a:p>
        </p:txBody>
      </p:sp>
      <p:sp>
        <p:nvSpPr>
          <p:cNvPr id="13" name="TextBox 13"/>
          <p:cNvSpPr txBox="1"/>
          <p:nvPr/>
        </p:nvSpPr>
        <p:spPr>
          <a:xfrm>
            <a:off x="3511286" y="2136315"/>
            <a:ext cx="13654202" cy="5909310"/>
          </a:xfrm>
          <a:prstGeom prst="rect">
            <a:avLst/>
          </a:prstGeom>
        </p:spPr>
        <p:txBody>
          <a:bodyPr lIns="0" tIns="0" rIns="0" bIns="0" rtlCol="0" anchor="t">
            <a:spAutoFit/>
          </a:bodyPr>
          <a:lstStyle/>
          <a:p>
            <a:pPr marL="457200" indent="-457200">
              <a:buFont typeface="Arial" panose="020B0604020202020204" pitchFamily="34" charset="0"/>
              <a:buChar char="•"/>
            </a:pPr>
            <a:r>
              <a:rPr lang="en-IN" sz="3200" dirty="0" err="1">
                <a:latin typeface="Times New Roman" panose="02020603050405020304" pitchFamily="18" charset="0"/>
                <a:cs typeface="Times New Roman" panose="02020603050405020304" pitchFamily="18" charset="0"/>
              </a:rPr>
              <a:t>Ollama</a:t>
            </a:r>
            <a:r>
              <a:rPr lang="en-IN" sz="3200" dirty="0">
                <a:latin typeface="Times New Roman" panose="02020603050405020304" pitchFamily="18" charset="0"/>
                <a:cs typeface="Times New Roman" panose="02020603050405020304" pitchFamily="18" charset="0"/>
              </a:rPr>
              <a:t> Documentation – Local LLM Integration for Carbon Emission Analysis and Personalized Recommendations.</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React 18 Documentation – Development of Interactive and Responsive User Interfaces.</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Node.js and Express.js Documentation – Backend Server and RESTful API Implementation.</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MongoDB and Mongoose Documentation – Database Management and Data </a:t>
            </a:r>
            <a:r>
              <a:rPr lang="en-IN" sz="3200" dirty="0" err="1">
                <a:latin typeface="Times New Roman" panose="02020603050405020304" pitchFamily="18" charset="0"/>
                <a:cs typeface="Times New Roman" panose="02020603050405020304" pitchFamily="18" charset="0"/>
              </a:rPr>
              <a:t>Modeling</a:t>
            </a:r>
            <a:r>
              <a:rPr lang="en-IN" sz="3200"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Tailwind CSS Documentation – Responsive and Utility-First User Interface Design.</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JSON Web Token (JWT) Documentation – Secure User Authentication and Authorization.</a:t>
            </a:r>
          </a:p>
        </p:txBody>
      </p:sp>
      <p:grpSp>
        <p:nvGrpSpPr>
          <p:cNvPr id="14" name="Group 14"/>
          <p:cNvGrpSpPr/>
          <p:nvPr/>
        </p:nvGrpSpPr>
        <p:grpSpPr>
          <a:xfrm>
            <a:off x="16833047" y="9507236"/>
            <a:ext cx="1169651" cy="547688"/>
            <a:chOff x="0" y="0"/>
            <a:chExt cx="1559535" cy="730250"/>
          </a:xfrm>
        </p:grpSpPr>
        <p:sp>
          <p:nvSpPr>
            <p:cNvPr id="15" name="Freeform 15"/>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6" name="TextBox 16"/>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12</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DE6C3">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 y="342900"/>
            <a:ext cx="4277277" cy="9957940"/>
          </a:xfrm>
          <a:custGeom>
            <a:avLst/>
            <a:gdLst/>
            <a:ahLst/>
            <a:cxnLst/>
            <a:rect l="l" t="t" r="r" b="b"/>
            <a:pathLst>
              <a:path w="4277277" h="9957940">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0834" y="-1181"/>
            <a:ext cx="3535013" cy="10281056"/>
          </a:xfrm>
          <a:custGeom>
            <a:avLst/>
            <a:gdLst/>
            <a:ahLst/>
            <a:cxnLst/>
            <a:rect l="l" t="t" r="r" b="b"/>
            <a:pathLst>
              <a:path w="3535013" h="10281056">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0" y="0"/>
            <a:ext cx="274320" cy="10287000"/>
            <a:chOff x="0" y="0"/>
            <a:chExt cx="365760" cy="13716000"/>
          </a:xfrm>
        </p:grpSpPr>
        <p:sp>
          <p:nvSpPr>
            <p:cNvPr id="5" name="Freeform 5"/>
            <p:cNvSpPr/>
            <p:nvPr/>
          </p:nvSpPr>
          <p:spPr>
            <a:xfrm>
              <a:off x="0" y="0"/>
              <a:ext cx="365760" cy="13716000"/>
            </a:xfrm>
            <a:custGeom>
              <a:avLst/>
              <a:gdLst/>
              <a:ahLst/>
              <a:cxnLst/>
              <a:rect l="l" t="t" r="r" b="b"/>
              <a:pathLst>
                <a:path w="365760" h="13716000">
                  <a:moveTo>
                    <a:pt x="0" y="0"/>
                  </a:moveTo>
                  <a:lnTo>
                    <a:pt x="365760" y="0"/>
                  </a:lnTo>
                  <a:lnTo>
                    <a:pt x="365760" y="13716000"/>
                  </a:lnTo>
                  <a:lnTo>
                    <a:pt x="0" y="13716000"/>
                  </a:lnTo>
                  <a:close/>
                </a:path>
              </a:pathLst>
            </a:custGeom>
            <a:solidFill>
              <a:srgbClr val="766F54"/>
            </a:solidFill>
          </p:spPr>
        </p:sp>
      </p:grpSp>
      <p:grpSp>
        <p:nvGrpSpPr>
          <p:cNvPr id="6" name="Group 6"/>
          <p:cNvGrpSpPr/>
          <p:nvPr/>
        </p:nvGrpSpPr>
        <p:grpSpPr>
          <a:xfrm>
            <a:off x="15881785" y="9370781"/>
            <a:ext cx="2382793" cy="760943"/>
            <a:chOff x="0" y="0"/>
            <a:chExt cx="3177057" cy="1014590"/>
          </a:xfrm>
        </p:grpSpPr>
        <p:sp>
          <p:nvSpPr>
            <p:cNvPr id="7" name="Freeform 7"/>
            <p:cNvSpPr/>
            <p:nvPr/>
          </p:nvSpPr>
          <p:spPr>
            <a:xfrm>
              <a:off x="-14192" y="0"/>
              <a:ext cx="3191224" cy="1014603"/>
            </a:xfrm>
            <a:custGeom>
              <a:avLst/>
              <a:gdLst/>
              <a:ahLst/>
              <a:cxnLst/>
              <a:rect l="l" t="t" r="r" b="b"/>
              <a:pathLst>
                <a:path w="3191224" h="1014603">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id="8" name="Group 8"/>
          <p:cNvGrpSpPr/>
          <p:nvPr/>
        </p:nvGrpSpPr>
        <p:grpSpPr>
          <a:xfrm>
            <a:off x="233563" y="0"/>
            <a:ext cx="2185988" cy="1864519"/>
            <a:chOff x="0" y="0"/>
            <a:chExt cx="2914650" cy="2486025"/>
          </a:xfrm>
        </p:grpSpPr>
        <p:sp>
          <p:nvSpPr>
            <p:cNvPr id="9" name="Freeform 9"/>
            <p:cNvSpPr/>
            <p:nvPr/>
          </p:nvSpPr>
          <p:spPr>
            <a:xfrm>
              <a:off x="0" y="0"/>
              <a:ext cx="2914650" cy="2486025"/>
            </a:xfrm>
            <a:custGeom>
              <a:avLst/>
              <a:gdLst/>
              <a:ahLst/>
              <a:cxnLst/>
              <a:rect l="l" t="t" r="r" b="b"/>
              <a:pathLst>
                <a:path w="2914650" h="2486025">
                  <a:moveTo>
                    <a:pt x="0" y="0"/>
                  </a:moveTo>
                  <a:lnTo>
                    <a:pt x="2914650" y="0"/>
                  </a:lnTo>
                  <a:lnTo>
                    <a:pt x="2914650" y="2486025"/>
                  </a:lnTo>
                  <a:lnTo>
                    <a:pt x="0" y="2486025"/>
                  </a:lnTo>
                  <a:lnTo>
                    <a:pt x="0" y="0"/>
                  </a:lnTo>
                  <a:close/>
                </a:path>
              </a:pathLst>
            </a:custGeom>
            <a:blipFill>
              <a:blip r:embed="rId7"/>
              <a:stretch>
                <a:fillRect/>
              </a:stretch>
            </a:blipFill>
          </p:spPr>
        </p:sp>
      </p:grpSp>
      <p:grpSp>
        <p:nvGrpSpPr>
          <p:cNvPr id="10" name="Group 10"/>
          <p:cNvGrpSpPr/>
          <p:nvPr/>
        </p:nvGrpSpPr>
        <p:grpSpPr>
          <a:xfrm>
            <a:off x="16655091" y="-591331"/>
            <a:ext cx="1525553" cy="2712101"/>
            <a:chOff x="0" y="0"/>
            <a:chExt cx="2034070" cy="3616134"/>
          </a:xfrm>
        </p:grpSpPr>
        <p:sp>
          <p:nvSpPr>
            <p:cNvPr id="11" name="Freeform 11"/>
            <p:cNvSpPr/>
            <p:nvPr/>
          </p:nvSpPr>
          <p:spPr>
            <a:xfrm>
              <a:off x="0" y="0"/>
              <a:ext cx="2034032" cy="3616071"/>
            </a:xfrm>
            <a:custGeom>
              <a:avLst/>
              <a:gdLst/>
              <a:ahLst/>
              <a:cxnLst/>
              <a:rect l="l" t="t" r="r" b="b"/>
              <a:pathLst>
                <a:path w="2034032" h="3616071">
                  <a:moveTo>
                    <a:pt x="0" y="0"/>
                  </a:moveTo>
                  <a:lnTo>
                    <a:pt x="2034032" y="0"/>
                  </a:lnTo>
                  <a:lnTo>
                    <a:pt x="2034032" y="3616071"/>
                  </a:lnTo>
                  <a:lnTo>
                    <a:pt x="0" y="3616071"/>
                  </a:lnTo>
                  <a:lnTo>
                    <a:pt x="0" y="0"/>
                  </a:lnTo>
                  <a:close/>
                </a:path>
              </a:pathLst>
            </a:custGeom>
            <a:blipFill>
              <a:blip r:embed="rId8"/>
              <a:stretch>
                <a:fillRect r="-1" b="-55"/>
              </a:stretch>
            </a:blipFill>
          </p:spPr>
        </p:sp>
      </p:grpSp>
      <p:grpSp>
        <p:nvGrpSpPr>
          <p:cNvPr id="12" name="Group 12"/>
          <p:cNvGrpSpPr/>
          <p:nvPr/>
        </p:nvGrpSpPr>
        <p:grpSpPr>
          <a:xfrm>
            <a:off x="16833047" y="9507236"/>
            <a:ext cx="1169651" cy="547688"/>
            <a:chOff x="0" y="0"/>
            <a:chExt cx="1559535" cy="730250"/>
          </a:xfrm>
        </p:grpSpPr>
        <p:sp>
          <p:nvSpPr>
            <p:cNvPr id="13" name="Freeform 13"/>
            <p:cNvSpPr/>
            <p:nvPr/>
          </p:nvSpPr>
          <p:spPr>
            <a:xfrm>
              <a:off x="0" y="0"/>
              <a:ext cx="1559534" cy="730250"/>
            </a:xfrm>
            <a:custGeom>
              <a:avLst/>
              <a:gdLst/>
              <a:ahLst/>
              <a:cxnLst/>
              <a:rect l="l" t="t" r="r" b="b"/>
              <a:pathLst>
                <a:path w="1559534" h="730250">
                  <a:moveTo>
                    <a:pt x="0" y="0"/>
                  </a:moveTo>
                  <a:lnTo>
                    <a:pt x="1559534" y="0"/>
                  </a:lnTo>
                  <a:lnTo>
                    <a:pt x="1559534" y="730250"/>
                  </a:lnTo>
                  <a:lnTo>
                    <a:pt x="0" y="730250"/>
                  </a:lnTo>
                  <a:close/>
                </a:path>
              </a:pathLst>
            </a:custGeom>
            <a:blipFill>
              <a:blip r:embed="rId9">
                <a:alphaModFix amt="0"/>
              </a:blip>
              <a:stretch>
                <a:fillRect l="-10077" r="-10078"/>
              </a:stretch>
            </a:blipFill>
          </p:spPr>
        </p:sp>
        <p:sp>
          <p:nvSpPr>
            <p:cNvPr id="14" name="TextBox 14"/>
            <p:cNvSpPr txBox="1"/>
            <p:nvPr/>
          </p:nvSpPr>
          <p:spPr>
            <a:xfrm>
              <a:off x="0" y="0"/>
              <a:ext cx="1559535" cy="730250"/>
            </a:xfrm>
            <a:prstGeom prst="rect">
              <a:avLst/>
            </a:prstGeom>
          </p:spPr>
          <p:txBody>
            <a:bodyPr lIns="0" tIns="0" rIns="0" bIns="0" rtlCol="0" anchor="ctr"/>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13</a:t>
              </a:r>
            </a:p>
          </p:txBody>
        </p:sp>
      </p:grpSp>
      <p:sp>
        <p:nvSpPr>
          <p:cNvPr id="15" name="TextBox 15"/>
          <p:cNvSpPr txBox="1"/>
          <p:nvPr/>
        </p:nvSpPr>
        <p:spPr>
          <a:xfrm>
            <a:off x="6500089" y="2718149"/>
            <a:ext cx="5287804" cy="1303230"/>
          </a:xfrm>
          <a:prstGeom prst="rect">
            <a:avLst/>
          </a:prstGeom>
        </p:spPr>
        <p:txBody>
          <a:bodyPr lIns="0" tIns="0" rIns="0" bIns="0" rtlCol="0" anchor="t">
            <a:spAutoFit/>
          </a:bodyPr>
          <a:lstStyle/>
          <a:p>
            <a:pPr algn="ctr">
              <a:lnSpc>
                <a:spcPts val="9720"/>
              </a:lnSpc>
            </a:pPr>
            <a:r>
              <a:rPr lang="en-US" sz="8100" b="1">
                <a:solidFill>
                  <a:srgbClr val="000000"/>
                </a:solidFill>
                <a:latin typeface="Century Gothic Paneuropean Bold"/>
                <a:ea typeface="Century Gothic Paneuropean Bold"/>
                <a:cs typeface="Century Gothic Paneuropean Bold"/>
                <a:sym typeface="Century Gothic Paneuropean Bold"/>
              </a:rPr>
              <a:t>Thank You</a:t>
            </a:r>
          </a:p>
        </p:txBody>
      </p:sp>
      <p:sp>
        <p:nvSpPr>
          <p:cNvPr id="16" name="TextBox 16"/>
          <p:cNvSpPr txBox="1"/>
          <p:nvPr/>
        </p:nvSpPr>
        <p:spPr>
          <a:xfrm>
            <a:off x="2934430" y="5347602"/>
            <a:ext cx="13855824" cy="1266825"/>
          </a:xfrm>
          <a:prstGeom prst="rect">
            <a:avLst/>
          </a:prstGeom>
        </p:spPr>
        <p:txBody>
          <a:bodyPr lIns="0" tIns="0" rIns="0" bIns="0" rtlCol="0" anchor="t">
            <a:spAutoFit/>
          </a:bodyPr>
          <a:lstStyle/>
          <a:p>
            <a:pPr algn="ctr">
              <a:lnSpc>
                <a:spcPts val="9720"/>
              </a:lnSpc>
            </a:pPr>
            <a:r>
              <a:rPr lang="en-US" sz="8100">
                <a:solidFill>
                  <a:srgbClr val="A53010"/>
                </a:solidFill>
                <a:latin typeface="Times New Roman"/>
                <a:ea typeface="Times New Roman"/>
                <a:cs typeface="Times New Roman"/>
                <a:sym typeface="Times New Roman"/>
              </a:rPr>
              <a:t>We are open to suggestions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1207</Words>
  <Application>Microsoft Office PowerPoint</Application>
  <PresentationFormat>Custom</PresentationFormat>
  <Paragraphs>198</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Century Gothic Paneuropean</vt:lpstr>
      <vt:lpstr>Calibri</vt:lpstr>
      <vt:lpstr>Times New Roman</vt:lpstr>
      <vt:lpstr>Century Gothic Paneuropean Bold</vt:lpstr>
      <vt:lpstr>Times New Roman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3a3e0fc7-e711-425d-9ccb-51b811fc9693.pptx</dc:title>
  <dc:creator>Hi</dc:creator>
  <cp:lastModifiedBy>rishi-sans@hotmail.com</cp:lastModifiedBy>
  <cp:revision>9</cp:revision>
  <dcterms:created xsi:type="dcterms:W3CDTF">2006-08-16T00:00:00Z</dcterms:created>
  <dcterms:modified xsi:type="dcterms:W3CDTF">2026-06-15T19:32:38Z</dcterms:modified>
  <dc:identifier>DAHGde67FxU</dc:identifier>
</cp:coreProperties>
</file>